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9571B27-BCBF-4C37-8294-7F251F43D787}"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3586931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9571B27-BCBF-4C37-8294-7F251F43D787}"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3449305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9571B27-BCBF-4C37-8294-7F251F43D787}"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3146294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9571B27-BCBF-4C37-8294-7F251F43D787}" type="datetimeFigureOut">
              <a:rPr lang="en-IN" smtClean="0"/>
              <a:t>18-10-2022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2764073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9571B27-BCBF-4C37-8294-7F251F43D787}" type="datetimeFigureOut">
              <a:rPr lang="en-IN" smtClean="0"/>
              <a:t>18-10-2022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2668652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9571B27-BCBF-4C37-8294-7F251F43D787}" type="datetimeFigureOut">
              <a:rPr lang="en-IN" smtClean="0"/>
              <a:t>18-10-2022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3128450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571B27-BCBF-4C37-8294-7F251F43D787}" type="datetimeFigureOut">
              <a:rPr lang="en-IN" smtClean="0"/>
              <a:t>18-10-2022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35795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9571B27-BCBF-4C37-8294-7F251F43D787}" type="datetimeFigureOut">
              <a:rPr lang="en-IN" smtClean="0"/>
              <a:t>18-10-2022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1238650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9571B27-BCBF-4C37-8294-7F251F43D787}" type="datetimeFigureOut">
              <a:rPr lang="en-IN" smtClean="0"/>
              <a:t>18-10-2022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3776078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9571B27-BCBF-4C37-8294-7F251F43D787}"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4293581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9571B27-BCBF-4C37-8294-7F251F43D787}"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D9E19-6906-4B58-86DE-3378AF00F26F}" type="slidenum">
              <a:rPr lang="en-IN" smtClean="0"/>
              <a:t>‹#›</a:t>
            </a:fld>
            <a:endParaRPr lang="en-IN"/>
          </a:p>
        </p:txBody>
      </p:sp>
    </p:spTree>
    <p:extLst>
      <p:ext uri="{BB962C8B-B14F-4D97-AF65-F5344CB8AC3E}">
        <p14:creationId xmlns:p14="http://schemas.microsoft.com/office/powerpoint/2010/main" val="1785118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571B27-BCBF-4C37-8294-7F251F43D787}" type="datetimeFigureOut">
              <a:rPr lang="en-IN" smtClean="0"/>
              <a:t>18-10-2022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BD9E19-6906-4B58-86DE-3378AF00F26F}" type="slidenum">
              <a:rPr lang="en-IN" smtClean="0"/>
              <a:t>‹#›</a:t>
            </a:fld>
            <a:endParaRPr lang="en-IN"/>
          </a:p>
        </p:txBody>
      </p:sp>
    </p:spTree>
    <p:extLst>
      <p:ext uri="{BB962C8B-B14F-4D97-AF65-F5344CB8AC3E}">
        <p14:creationId xmlns:p14="http://schemas.microsoft.com/office/powerpoint/2010/main" val="3248304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83439" y="2967335"/>
            <a:ext cx="7025129" cy="923330"/>
          </a:xfrm>
          <a:prstGeom prst="rect">
            <a:avLst/>
          </a:prstGeom>
          <a:noFill/>
        </p:spPr>
        <p:txBody>
          <a:bodyPr wrap="none" lIns="91440" tIns="45720" rIns="91440" bIns="45720">
            <a:spAutoFit/>
          </a:bodyPr>
          <a:lstStyle/>
          <a:p>
            <a:pPr algn="ctr"/>
            <a:r>
              <a:rPr lang="en-US" sz="5400" b="0" cap="none" spc="0" dirty="0" smtClean="0">
                <a:ln w="0"/>
                <a:solidFill>
                  <a:schemeClr val="accent1"/>
                </a:solidFill>
                <a:effectLst>
                  <a:outerShdw blurRad="38100" dist="25400" dir="5400000" algn="ctr" rotWithShape="0">
                    <a:srgbClr val="6E747A">
                      <a:alpha val="43000"/>
                    </a:srgbClr>
                  </a:outerShdw>
                </a:effectLst>
              </a:rPr>
              <a:t>Support Vector Machine</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077144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136" y="456587"/>
            <a:ext cx="11325497" cy="3323987"/>
          </a:xfrm>
          <a:prstGeom prst="rect">
            <a:avLst/>
          </a:prstGeom>
        </p:spPr>
        <p:txBody>
          <a:bodyPr wrap="square">
            <a:spAutoFit/>
          </a:bodyPr>
          <a:lstStyle/>
          <a:p>
            <a:r>
              <a:rPr lang="en-US" sz="1600" b="0" i="0" dirty="0" smtClean="0">
                <a:solidFill>
                  <a:srgbClr val="292929"/>
                </a:solidFill>
                <a:effectLst/>
                <a:latin typeface="Arial" panose="020B0604020202020204" pitchFamily="34" charset="0"/>
                <a:cs typeface="Arial" panose="020B0604020202020204" pitchFamily="34" charset="0"/>
              </a:rPr>
              <a:t>The goal of the SVM algorithm is to create the best line or plan that can segregate n-dimensional space into classes so that we can easily put the new data point in the correct category in the future. This best decision boundary is called a hyperplane.</a:t>
            </a:r>
          </a:p>
          <a:p>
            <a:endParaRPr lang="en-US" sz="1600" b="0" i="0" dirty="0" smtClean="0">
              <a:solidFill>
                <a:srgbClr val="292929"/>
              </a:solidFill>
              <a:effectLst/>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dimension of the hyperplane depends upon the number of features. If the number of input features is 2, then the hyperplane is just a line. If the number of input features is 3, then the hyperplane becomes a two-dimensional plane</a:t>
            </a:r>
            <a:r>
              <a:rPr lang="en-US" sz="1600" dirty="0" smtClean="0">
                <a:latin typeface="Arial" panose="020B0604020202020204" pitchFamily="34" charset="0"/>
                <a:cs typeface="Arial" panose="020B0604020202020204" pitchFamily="34" charset="0"/>
              </a:rPr>
              <a:t>.</a:t>
            </a:r>
          </a:p>
          <a:p>
            <a:endParaRPr lang="en-US" sz="1600" dirty="0" smtClean="0">
              <a:latin typeface="Arial" panose="020B0604020202020204" pitchFamily="34" charset="0"/>
              <a:cs typeface="Arial" panose="020B0604020202020204" pitchFamily="34" charset="0"/>
            </a:endParaRPr>
          </a:p>
          <a:p>
            <a:r>
              <a:rPr lang="en-US" sz="1600" dirty="0">
                <a:solidFill>
                  <a:srgbClr val="292929"/>
                </a:solidFill>
                <a:latin typeface="Arial" panose="020B0604020202020204" pitchFamily="34" charset="0"/>
                <a:cs typeface="Arial" panose="020B0604020202020204" pitchFamily="34" charset="0"/>
              </a:rPr>
              <a:t>SVM chooses the extreme points/vectors that help in creating the hyperplane. These extreme cases are called support vectors, and hence algorithm is termed as Support Vector Machine</a:t>
            </a:r>
            <a:r>
              <a:rPr lang="en-US" sz="1600" dirty="0" smtClean="0">
                <a:solidFill>
                  <a:srgbClr val="292929"/>
                </a:solidFill>
                <a:latin typeface="Arial" panose="020B0604020202020204" pitchFamily="34" charset="0"/>
                <a:cs typeface="Arial" panose="020B0604020202020204" pitchFamily="34" charset="0"/>
              </a:rPr>
              <a:t>.</a:t>
            </a:r>
          </a:p>
          <a:p>
            <a:endParaRPr lang="en-US" sz="1600" dirty="0" smtClean="0">
              <a:solidFill>
                <a:srgbClr val="292929"/>
              </a:solidFill>
              <a:latin typeface="Arial" panose="020B0604020202020204" pitchFamily="34" charset="0"/>
              <a:cs typeface="Arial" panose="020B0604020202020204" pitchFamily="34" charset="0"/>
            </a:endParaRPr>
          </a:p>
          <a:p>
            <a:r>
              <a:rPr lang="en-US" sz="1600" b="0" i="0" dirty="0" smtClean="0">
                <a:solidFill>
                  <a:srgbClr val="292929"/>
                </a:solidFill>
                <a:effectLst/>
                <a:latin typeface="Arial" panose="020B0604020202020204" pitchFamily="34" charset="0"/>
                <a:cs typeface="Arial" panose="020B0604020202020204" pitchFamily="34" charset="0"/>
              </a:rPr>
              <a:t>Consider the below diagram in which there are two different categories that are classified using a decision boundary or hyperplane:</a:t>
            </a:r>
            <a:endParaRPr lang="en-IN" sz="1600" dirty="0" smtClean="0">
              <a:latin typeface="Arial" panose="020B0604020202020204" pitchFamily="34" charset="0"/>
              <a:cs typeface="Arial" panose="020B0604020202020204" pitchFamily="34" charset="0"/>
            </a:endParaRPr>
          </a:p>
          <a:p>
            <a:endParaRPr lang="en-IN" dirty="0"/>
          </a:p>
        </p:txBody>
      </p:sp>
      <p:pic>
        <p:nvPicPr>
          <p:cNvPr id="5" name="Picture 4"/>
          <p:cNvPicPr>
            <a:picLocks noChangeAspect="1"/>
          </p:cNvPicPr>
          <p:nvPr/>
        </p:nvPicPr>
        <p:blipFill>
          <a:blip r:embed="rId2"/>
          <a:stretch>
            <a:fillRect/>
          </a:stretch>
        </p:blipFill>
        <p:spPr>
          <a:xfrm>
            <a:off x="3387496" y="3321231"/>
            <a:ext cx="5438775" cy="3771900"/>
          </a:xfrm>
          <a:prstGeom prst="rect">
            <a:avLst/>
          </a:prstGeom>
        </p:spPr>
      </p:pic>
    </p:spTree>
    <p:extLst>
      <p:ext uri="{BB962C8B-B14F-4D97-AF65-F5344CB8AC3E}">
        <p14:creationId xmlns:p14="http://schemas.microsoft.com/office/powerpoint/2010/main" val="3756372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2628" y="310383"/>
            <a:ext cx="9897292" cy="369332"/>
          </a:xfrm>
          <a:prstGeom prst="rect">
            <a:avLst/>
          </a:prstGeom>
        </p:spPr>
        <p:txBody>
          <a:bodyPr wrap="square">
            <a:spAutoFit/>
          </a:bodyPr>
          <a:lstStyle/>
          <a:p>
            <a:r>
              <a:rPr lang="en-US" b="0" i="0" dirty="0" smtClean="0">
                <a:solidFill>
                  <a:srgbClr val="292929"/>
                </a:solidFill>
                <a:effectLst/>
                <a:latin typeface="source-serif-pro"/>
              </a:rPr>
              <a:t>How can we decide a separating line or class is best for classification</a:t>
            </a:r>
            <a:endParaRPr lang="en-IN" dirty="0"/>
          </a:p>
        </p:txBody>
      </p:sp>
      <p:sp>
        <p:nvSpPr>
          <p:cNvPr id="3" name="Rectangle 2"/>
          <p:cNvSpPr/>
          <p:nvPr/>
        </p:nvSpPr>
        <p:spPr>
          <a:xfrm>
            <a:off x="997131" y="1078413"/>
            <a:ext cx="10289178" cy="1200329"/>
          </a:xfrm>
          <a:prstGeom prst="rect">
            <a:avLst/>
          </a:prstGeom>
        </p:spPr>
        <p:txBody>
          <a:bodyPr wrap="square">
            <a:spAutoFit/>
          </a:bodyPr>
          <a:lstStyle/>
          <a:p>
            <a:r>
              <a:rPr lang="en-US" b="0" i="0" dirty="0" smtClean="0">
                <a:solidFill>
                  <a:srgbClr val="292929"/>
                </a:solidFill>
                <a:effectLst/>
                <a:latin typeface="source-serif-pro"/>
              </a:rPr>
              <a:t>The vector points closest to the hyperplane are known as the support vector points because only these two points are contributing to the result of the algorithm, and other points are not. </a:t>
            </a:r>
            <a:r>
              <a:rPr lang="en-US" dirty="0"/>
              <a:t>If a data point is not a support vector, removing it has no effect on the model. On the other hand, deleting the support vectors will then change the position of the hyperplane.</a:t>
            </a:r>
            <a:endParaRPr lang="en-IN" dirty="0"/>
          </a:p>
        </p:txBody>
      </p:sp>
      <p:sp>
        <p:nvSpPr>
          <p:cNvPr id="4" name="Rectangle 3"/>
          <p:cNvSpPr/>
          <p:nvPr/>
        </p:nvSpPr>
        <p:spPr>
          <a:xfrm>
            <a:off x="997131" y="2463076"/>
            <a:ext cx="10289178" cy="923330"/>
          </a:xfrm>
          <a:prstGeom prst="rect">
            <a:avLst/>
          </a:prstGeom>
        </p:spPr>
        <p:txBody>
          <a:bodyPr wrap="square">
            <a:spAutoFit/>
          </a:bodyPr>
          <a:lstStyle/>
          <a:p>
            <a:r>
              <a:rPr lang="en-US" b="0" i="0" dirty="0" smtClean="0">
                <a:solidFill>
                  <a:srgbClr val="292929"/>
                </a:solidFill>
                <a:effectLst/>
                <a:latin typeface="source-serif-pro"/>
              </a:rPr>
              <a:t>The distance of the vectors from the hyperplane is called the margin, which is a separation of a line to the closest class points. We would like to choose a hyperplane that </a:t>
            </a:r>
            <a:r>
              <a:rPr lang="en-US" b="0" i="0" dirty="0" err="1" smtClean="0">
                <a:solidFill>
                  <a:srgbClr val="292929"/>
                </a:solidFill>
                <a:effectLst/>
                <a:latin typeface="source-serif-pro"/>
              </a:rPr>
              <a:t>maximises</a:t>
            </a:r>
            <a:r>
              <a:rPr lang="en-US" b="0" i="0" dirty="0" smtClean="0">
                <a:solidFill>
                  <a:srgbClr val="292929"/>
                </a:solidFill>
                <a:effectLst/>
                <a:latin typeface="source-serif-pro"/>
              </a:rPr>
              <a:t> the margin between classes.</a:t>
            </a:r>
            <a:endParaRPr lang="en-IN" dirty="0"/>
          </a:p>
        </p:txBody>
      </p:sp>
      <p:pic>
        <p:nvPicPr>
          <p:cNvPr id="6" name="Picture 5"/>
          <p:cNvPicPr>
            <a:picLocks noChangeAspect="1"/>
          </p:cNvPicPr>
          <p:nvPr/>
        </p:nvPicPr>
        <p:blipFill>
          <a:blip r:embed="rId2"/>
          <a:stretch>
            <a:fillRect/>
          </a:stretch>
        </p:blipFill>
        <p:spPr>
          <a:xfrm>
            <a:off x="1574073" y="3890826"/>
            <a:ext cx="3860075" cy="2353220"/>
          </a:xfrm>
          <a:prstGeom prst="rect">
            <a:avLst/>
          </a:prstGeom>
        </p:spPr>
      </p:pic>
      <p:pic>
        <p:nvPicPr>
          <p:cNvPr id="7" name="Picture 6"/>
          <p:cNvPicPr>
            <a:picLocks noChangeAspect="1"/>
          </p:cNvPicPr>
          <p:nvPr/>
        </p:nvPicPr>
        <p:blipFill>
          <a:blip r:embed="rId3"/>
          <a:stretch>
            <a:fillRect/>
          </a:stretch>
        </p:blipFill>
        <p:spPr>
          <a:xfrm>
            <a:off x="6976245" y="4024721"/>
            <a:ext cx="3438525" cy="2219325"/>
          </a:xfrm>
          <a:prstGeom prst="rect">
            <a:avLst/>
          </a:prstGeom>
        </p:spPr>
      </p:pic>
    </p:spTree>
    <p:extLst>
      <p:ext uri="{BB962C8B-B14F-4D97-AF65-F5344CB8AC3E}">
        <p14:creationId xmlns:p14="http://schemas.microsoft.com/office/powerpoint/2010/main" val="1120117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2798" y="266002"/>
            <a:ext cx="1680781" cy="369332"/>
          </a:xfrm>
          <a:prstGeom prst="rect">
            <a:avLst/>
          </a:prstGeom>
        </p:spPr>
        <p:txBody>
          <a:bodyPr wrap="none">
            <a:spAutoFit/>
          </a:bodyPr>
          <a:lstStyle/>
          <a:p>
            <a:r>
              <a:rPr lang="en-IN" b="1" i="0" dirty="0" smtClean="0">
                <a:solidFill>
                  <a:srgbClr val="292929"/>
                </a:solidFill>
                <a:effectLst/>
                <a:latin typeface="source-serif-pro"/>
              </a:rPr>
              <a:t>Types of SVM</a:t>
            </a:r>
            <a:endParaRPr lang="en-IN" dirty="0"/>
          </a:p>
        </p:txBody>
      </p:sp>
      <p:sp>
        <p:nvSpPr>
          <p:cNvPr id="3" name="Rectangle 2"/>
          <p:cNvSpPr/>
          <p:nvPr/>
        </p:nvSpPr>
        <p:spPr>
          <a:xfrm>
            <a:off x="722798" y="1148754"/>
            <a:ext cx="11373408" cy="2246769"/>
          </a:xfrm>
          <a:prstGeom prst="rect">
            <a:avLst/>
          </a:prstGeom>
        </p:spPr>
        <p:txBody>
          <a:bodyPr wrap="square">
            <a:spAutoFit/>
          </a:bodyPr>
          <a:lstStyle/>
          <a:p>
            <a:pPr>
              <a:buFont typeface="Arial" panose="020B0604020202020204" pitchFamily="34" charset="0"/>
              <a:buChar char="•"/>
            </a:pPr>
            <a:r>
              <a:rPr lang="en-US" sz="2000" b="0" i="0" dirty="0" smtClean="0">
                <a:solidFill>
                  <a:srgbClr val="292929"/>
                </a:solidFill>
                <a:effectLst/>
                <a:latin typeface="source-serif-pro"/>
              </a:rPr>
              <a:t>Linear SVM: Linear SVM is used for linearly separable data, which means if a dataset can be classified into two classes by using a single straight line, then such data is termed as linearly separable data, and classifier is used called as Linear SVM classifier.</a:t>
            </a:r>
          </a:p>
          <a:p>
            <a:pPr>
              <a:buFont typeface="Arial" panose="020B0604020202020204" pitchFamily="34" charset="0"/>
              <a:buChar char="•"/>
            </a:pPr>
            <a:endParaRPr lang="en-US" sz="2000" b="0" i="0" dirty="0" smtClean="0">
              <a:solidFill>
                <a:srgbClr val="292929"/>
              </a:solidFill>
              <a:effectLst/>
              <a:latin typeface="source-serif-pro"/>
            </a:endParaRPr>
          </a:p>
          <a:p>
            <a:pPr>
              <a:buFont typeface="Arial" panose="020B0604020202020204" pitchFamily="34" charset="0"/>
              <a:buChar char="•"/>
            </a:pPr>
            <a:r>
              <a:rPr lang="en-US" sz="2000" b="0" i="0" dirty="0" smtClean="0">
                <a:solidFill>
                  <a:srgbClr val="292929"/>
                </a:solidFill>
                <a:effectLst/>
                <a:latin typeface="source-serif-pro"/>
              </a:rPr>
              <a:t>Non-linear SVM: Non-Linear SVM is used for non-linearly separated data, which means if a dataset cannot be classified by using a straight line, then such data is termed as non-linear data and classifier used is called as Non-linear SVM classifier.</a:t>
            </a:r>
            <a:endParaRPr lang="en-US" sz="2000" b="0" i="0" dirty="0">
              <a:solidFill>
                <a:srgbClr val="292929"/>
              </a:solidFill>
              <a:effectLst/>
              <a:latin typeface="source-serif-pro"/>
            </a:endParaRPr>
          </a:p>
        </p:txBody>
      </p:sp>
      <p:pic>
        <p:nvPicPr>
          <p:cNvPr id="6" name="Picture 5"/>
          <p:cNvPicPr>
            <a:picLocks noChangeAspect="1"/>
          </p:cNvPicPr>
          <p:nvPr/>
        </p:nvPicPr>
        <p:blipFill>
          <a:blip r:embed="rId2"/>
          <a:stretch>
            <a:fillRect/>
          </a:stretch>
        </p:blipFill>
        <p:spPr>
          <a:xfrm>
            <a:off x="1469706" y="3513907"/>
            <a:ext cx="3400425" cy="3213463"/>
          </a:xfrm>
          <a:prstGeom prst="rect">
            <a:avLst/>
          </a:prstGeom>
        </p:spPr>
      </p:pic>
      <p:pic>
        <p:nvPicPr>
          <p:cNvPr id="7" name="Picture 6"/>
          <p:cNvPicPr>
            <a:picLocks noChangeAspect="1"/>
          </p:cNvPicPr>
          <p:nvPr/>
        </p:nvPicPr>
        <p:blipFill>
          <a:blip r:embed="rId3"/>
          <a:stretch>
            <a:fillRect/>
          </a:stretch>
        </p:blipFill>
        <p:spPr>
          <a:xfrm>
            <a:off x="6453051" y="3513907"/>
            <a:ext cx="4651329" cy="3213464"/>
          </a:xfrm>
          <a:prstGeom prst="rect">
            <a:avLst/>
          </a:prstGeom>
        </p:spPr>
      </p:pic>
    </p:spTree>
    <p:extLst>
      <p:ext uri="{BB962C8B-B14F-4D97-AF65-F5344CB8AC3E}">
        <p14:creationId xmlns:p14="http://schemas.microsoft.com/office/powerpoint/2010/main" val="2215031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0709" y="143691"/>
            <a:ext cx="4885508" cy="369332"/>
          </a:xfrm>
          <a:prstGeom prst="rect">
            <a:avLst/>
          </a:prstGeom>
          <a:noFill/>
        </p:spPr>
        <p:txBody>
          <a:bodyPr wrap="square" rtlCol="0">
            <a:spAutoFit/>
          </a:bodyPr>
          <a:lstStyle/>
          <a:p>
            <a:r>
              <a:rPr lang="en-US" dirty="0" smtClean="0"/>
              <a:t>Non-Linear SVM:</a:t>
            </a:r>
          </a:p>
        </p:txBody>
      </p:sp>
      <p:sp>
        <p:nvSpPr>
          <p:cNvPr id="4" name="TextBox 3"/>
          <p:cNvSpPr txBox="1"/>
          <p:nvPr/>
        </p:nvSpPr>
        <p:spPr>
          <a:xfrm>
            <a:off x="770709" y="718457"/>
            <a:ext cx="10515600" cy="1200329"/>
          </a:xfrm>
          <a:prstGeom prst="rect">
            <a:avLst/>
          </a:prstGeom>
          <a:noFill/>
        </p:spPr>
        <p:txBody>
          <a:bodyPr wrap="square" rtlCol="0">
            <a:spAutoFit/>
          </a:bodyPr>
          <a:lstStyle/>
          <a:p>
            <a:r>
              <a:rPr lang="en-US" dirty="0"/>
              <a:t>SVM has a technique called the </a:t>
            </a:r>
            <a:r>
              <a:rPr lang="en-US" b="1" dirty="0"/>
              <a:t>kernel trick</a:t>
            </a:r>
            <a:r>
              <a:rPr lang="en-US" dirty="0"/>
              <a:t>. These are functions that take low dimensional input space and transform it into a higher-dimensional space</a:t>
            </a:r>
            <a:r>
              <a:rPr lang="en-US" dirty="0" smtClean="0"/>
              <a:t>, so by increasing dimension we can separate our class at higher dimension. That’s how non </a:t>
            </a:r>
            <a:r>
              <a:rPr lang="en-US" dirty="0"/>
              <a:t>separable problem </a:t>
            </a:r>
            <a:r>
              <a:rPr lang="en-US" dirty="0" smtClean="0"/>
              <a:t>solved by non linear technique. </a:t>
            </a:r>
            <a:r>
              <a:rPr lang="en-US" dirty="0"/>
              <a:t>It is mostly useful in non-linear separation problems. This is shown as follows:</a:t>
            </a:r>
            <a:endParaRPr lang="en-IN" dirty="0"/>
          </a:p>
        </p:txBody>
      </p:sp>
      <p:pic>
        <p:nvPicPr>
          <p:cNvPr id="5" name="Picture 4"/>
          <p:cNvPicPr>
            <a:picLocks noChangeAspect="1"/>
          </p:cNvPicPr>
          <p:nvPr/>
        </p:nvPicPr>
        <p:blipFill>
          <a:blip r:embed="rId2"/>
          <a:stretch>
            <a:fillRect/>
          </a:stretch>
        </p:blipFill>
        <p:spPr>
          <a:xfrm>
            <a:off x="1452153" y="2124220"/>
            <a:ext cx="8408127" cy="3655423"/>
          </a:xfrm>
          <a:prstGeom prst="rect">
            <a:avLst/>
          </a:prstGeom>
        </p:spPr>
      </p:pic>
      <p:sp>
        <p:nvSpPr>
          <p:cNvPr id="6" name="TextBox 5"/>
          <p:cNvSpPr txBox="1"/>
          <p:nvPr/>
        </p:nvSpPr>
        <p:spPr>
          <a:xfrm>
            <a:off x="770708" y="5943600"/>
            <a:ext cx="11181805" cy="646331"/>
          </a:xfrm>
          <a:prstGeom prst="rect">
            <a:avLst/>
          </a:prstGeom>
          <a:noFill/>
        </p:spPr>
        <p:txBody>
          <a:bodyPr wrap="square" rtlCol="0">
            <a:spAutoFit/>
          </a:bodyPr>
          <a:lstStyle/>
          <a:p>
            <a:r>
              <a:rPr lang="en-US" dirty="0" smtClean="0"/>
              <a:t>Note:-  </a:t>
            </a:r>
            <a:r>
              <a:rPr lang="en-US" dirty="0" err="1" smtClean="0"/>
              <a:t>rbf</a:t>
            </a:r>
            <a:r>
              <a:rPr lang="en-US" dirty="0" smtClean="0"/>
              <a:t> Kernels </a:t>
            </a:r>
            <a:r>
              <a:rPr lang="en-US" dirty="0"/>
              <a:t>in SVM classification refer to the function that is responsible for defining the decision boundaries between the classes.</a:t>
            </a:r>
            <a:endParaRPr lang="en-IN" dirty="0"/>
          </a:p>
        </p:txBody>
      </p:sp>
    </p:spTree>
    <p:extLst>
      <p:ext uri="{BB962C8B-B14F-4D97-AF65-F5344CB8AC3E}">
        <p14:creationId xmlns:p14="http://schemas.microsoft.com/office/powerpoint/2010/main" val="2916717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364</Words>
  <Application>Microsoft Office PowerPoint</Application>
  <PresentationFormat>Widescreen</PresentationFormat>
  <Paragraphs>18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source-serif-pro</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3</cp:revision>
  <dcterms:created xsi:type="dcterms:W3CDTF">2022-10-18T07:56:21Z</dcterms:created>
  <dcterms:modified xsi:type="dcterms:W3CDTF">2022-10-18T08:14:01Z</dcterms:modified>
</cp:coreProperties>
</file>