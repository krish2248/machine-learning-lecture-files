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53653-898C-4EDF-AE7D-2E698F6C9283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7852-D936-4091-801C-A5B698D44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46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53653-898C-4EDF-AE7D-2E698F6C9283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7852-D936-4091-801C-A5B698D44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437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53653-898C-4EDF-AE7D-2E698F6C9283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7852-D936-4091-801C-A5B698D44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14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53653-898C-4EDF-AE7D-2E698F6C9283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7852-D936-4091-801C-A5B698D44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766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53653-898C-4EDF-AE7D-2E698F6C9283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7852-D936-4091-801C-A5B698D44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385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53653-898C-4EDF-AE7D-2E698F6C9283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7852-D936-4091-801C-A5B698D44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706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53653-898C-4EDF-AE7D-2E698F6C9283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7852-D936-4091-801C-A5B698D44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870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53653-898C-4EDF-AE7D-2E698F6C9283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7852-D936-4091-801C-A5B698D44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503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53653-898C-4EDF-AE7D-2E698F6C9283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7852-D936-4091-801C-A5B698D44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807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53653-898C-4EDF-AE7D-2E698F6C9283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7852-D936-4091-801C-A5B698D44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812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53653-898C-4EDF-AE7D-2E698F6C9283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7852-D936-4091-801C-A5B698D44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886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53653-898C-4EDF-AE7D-2E698F6C9283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57852-D936-4091-801C-A5B698D44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33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28914" y="2967335"/>
            <a:ext cx="35341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Naive </a:t>
            </a:r>
            <a:r>
              <a:rPr lang="en-US" sz="5400" b="0" cap="none" spc="0" dirty="0" err="1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bayes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9645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1372" y="412207"/>
            <a:ext cx="112819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dirty="0" smtClean="0">
                <a:solidFill>
                  <a:srgbClr val="292929"/>
                </a:solidFill>
                <a:effectLst/>
                <a:latin typeface="source-serif-pro"/>
              </a:rPr>
              <a:t>Naive Bayes</a:t>
            </a:r>
            <a:r>
              <a:rPr lang="en-US" b="0" i="0" dirty="0" smtClean="0">
                <a:solidFill>
                  <a:srgbClr val="292929"/>
                </a:solidFill>
                <a:effectLst/>
                <a:latin typeface="source-serif-pro"/>
              </a:rPr>
              <a:t> is a probabilistic machine learning algorithm. It is used widely to solve the classification problem. 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631371" y="1355412"/>
            <a:ext cx="101062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 smtClean="0">
                <a:solidFill>
                  <a:srgbClr val="292929"/>
                </a:solidFill>
                <a:effectLst/>
                <a:latin typeface="source-serif-pro"/>
              </a:rPr>
              <a:t>The Naive Bayes algorithm is based on the Bayes theorem. Which is given below.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606" y="2178372"/>
            <a:ext cx="5353050" cy="2133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13805" y="4765600"/>
            <a:ext cx="107202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 smtClean="0">
                <a:solidFill>
                  <a:srgbClr val="292929"/>
                </a:solidFill>
                <a:effectLst/>
                <a:latin typeface="source-serif-pro"/>
              </a:rPr>
              <a:t>In simple terms, the Bayes theorem is a way of finding a probability when we know certain other probabilities. From the formula, we can clearly infer that the probability of B has already occurred to determine the probability of 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4378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859" y="999028"/>
            <a:ext cx="6315075" cy="3400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67096" y="352697"/>
            <a:ext cx="9039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Consider dataset where car color type and origin is given and car is stolen or not from given data set.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859" y="5045784"/>
            <a:ext cx="6791325" cy="1562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67096" y="4861118"/>
            <a:ext cx="9888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Question is given that car will be stolen or not and we will try to find answer with naive Bayes algorithm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9553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55" y="229280"/>
            <a:ext cx="4910408" cy="264406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56" y="229280"/>
            <a:ext cx="5629275" cy="3905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174" y="849086"/>
            <a:ext cx="6534150" cy="187574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0886" y="2724830"/>
            <a:ext cx="6562725" cy="18439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0886" y="4568796"/>
            <a:ext cx="6534150" cy="21240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327" y="3099125"/>
            <a:ext cx="5241063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844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8958" y="187624"/>
            <a:ext cx="3260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0" i="0" dirty="0" smtClean="0">
                <a:solidFill>
                  <a:srgbClr val="292929"/>
                </a:solidFill>
                <a:effectLst/>
                <a:latin typeface="source-serif-pro"/>
              </a:rPr>
              <a:t>today = (Red, SUV, Domestic)</a:t>
            </a:r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68958" y="966492"/>
            <a:ext cx="9929522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1" u="none" strike="noStrike" cap="none" normalizeH="0" baseline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To determine car is stolen ‘YES’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1" u="none" strike="noStrike" cap="none" normalizeH="0" baseline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P(</a:t>
            </a:r>
            <a:r>
              <a:rPr kumimoji="0" lang="en-US" altLang="en-US" sz="1500" b="0" i="1" u="none" strike="noStrike" cap="none" normalizeH="0" baseline="0" dirty="0" err="1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Yes|today</a:t>
            </a:r>
            <a:r>
              <a:rPr kumimoji="0" lang="en-US" altLang="en-US" sz="1500" b="0" i="1" u="none" strike="noStrike" cap="none" normalizeH="0" baseline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) =      P(</a:t>
            </a:r>
            <a:r>
              <a:rPr kumimoji="0" lang="en-US" altLang="en-US" sz="1500" b="0" i="1" u="none" strike="noStrike" cap="none" normalizeH="0" baseline="0" dirty="0" err="1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Red|Yes</a:t>
            </a:r>
            <a:r>
              <a:rPr kumimoji="0" lang="en-US" altLang="en-US" sz="1500" b="0" i="1" u="none" strike="noStrike" cap="none" normalizeH="0" baseline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) * P(</a:t>
            </a:r>
            <a:r>
              <a:rPr kumimoji="0" lang="en-US" altLang="en-US" sz="1500" b="0" i="1" u="none" strike="noStrike" cap="none" normalizeH="0" baseline="0" dirty="0" err="1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SUV|Yes</a:t>
            </a:r>
            <a:r>
              <a:rPr kumimoji="0" lang="en-US" altLang="en-US" sz="1500" b="0" i="1" u="none" strike="noStrike" cap="none" normalizeH="0" baseline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) * P(</a:t>
            </a:r>
            <a:r>
              <a:rPr kumimoji="0" lang="en-US" altLang="en-US" sz="1500" b="0" i="1" u="none" strike="noStrike" cap="none" normalizeH="0" baseline="0" dirty="0" err="1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Domestic|Yes</a:t>
            </a:r>
            <a:r>
              <a:rPr kumimoji="0" lang="en-US" altLang="en-US" sz="1500" b="0" i="1" u="none" strike="noStrike" cap="none" normalizeH="0" baseline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) * P(Yes)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500" i="1" dirty="0" smtClean="0">
                <a:solidFill>
                  <a:srgbClr val="292929"/>
                </a:solidFill>
                <a:latin typeface="source-serif-pro"/>
              </a:rPr>
              <a:t>                          __________________________________________</a:t>
            </a:r>
          </a:p>
          <a:p>
            <a:pPr lvl="0"/>
            <a:r>
              <a:rPr lang="en-US" altLang="en-US" sz="1500" i="1" dirty="0">
                <a:solidFill>
                  <a:srgbClr val="292929"/>
                </a:solidFill>
                <a:latin typeface="source-serif-pro"/>
              </a:rPr>
              <a:t> </a:t>
            </a:r>
            <a:r>
              <a:rPr lang="en-US" altLang="en-US" sz="1500" i="1" dirty="0" smtClean="0">
                <a:solidFill>
                  <a:srgbClr val="292929"/>
                </a:solidFill>
                <a:latin typeface="source-serif-pro"/>
              </a:rPr>
              <a:t>                                                             </a:t>
            </a:r>
            <a:r>
              <a:rPr kumimoji="0" lang="en-US" altLang="en-US" sz="1500" b="0" i="1" u="none" strike="noStrike" cap="none" normalizeH="0" baseline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P(today)</a:t>
            </a:r>
            <a:endParaRPr lang="en-US" altLang="en-US" sz="1500" i="1" dirty="0">
              <a:solidFill>
                <a:srgbClr val="292929"/>
              </a:solidFill>
              <a:latin typeface="source-serif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1" u="none" strike="noStrike" cap="none" normalizeH="0" baseline="0" dirty="0" smtClean="0">
              <a:ln>
                <a:noFill/>
              </a:ln>
              <a:solidFill>
                <a:srgbClr val="292929"/>
              </a:solidFill>
              <a:effectLst/>
              <a:latin typeface="source-serif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1" u="none" strike="noStrike" cap="none" normalizeH="0" baseline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To determine the car is not stolen ‘NO’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/>
            <a:r>
              <a:rPr kumimoji="0" lang="en-US" altLang="en-US" sz="1500" b="0" i="1" u="none" strike="noStrike" cap="none" normalizeH="0" baseline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P(</a:t>
            </a:r>
            <a:r>
              <a:rPr kumimoji="0" lang="en-US" altLang="en-US" sz="1500" b="0" i="1" u="none" strike="noStrike" cap="none" normalizeH="0" baseline="0" dirty="0" err="1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No|today</a:t>
            </a:r>
            <a:r>
              <a:rPr kumimoji="0" lang="en-US" altLang="en-US" sz="1500" b="0" i="1" u="none" strike="noStrike" cap="none" normalizeH="0" baseline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) =          P(</a:t>
            </a:r>
            <a:r>
              <a:rPr kumimoji="0" lang="en-US" altLang="en-US" sz="1500" b="0" i="1" u="none" strike="noStrike" cap="none" normalizeH="0" baseline="0" dirty="0" err="1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Red|No</a:t>
            </a:r>
            <a:r>
              <a:rPr kumimoji="0" lang="en-US" altLang="en-US" sz="1500" b="0" i="1" u="none" strike="noStrike" cap="none" normalizeH="0" baseline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)*P(</a:t>
            </a:r>
            <a:r>
              <a:rPr kumimoji="0" lang="en-US" altLang="en-US" sz="1500" b="0" i="1" u="none" strike="noStrike" cap="none" normalizeH="0" baseline="0" dirty="0" err="1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SUV|No</a:t>
            </a:r>
            <a:r>
              <a:rPr kumimoji="0" lang="en-US" altLang="en-US" sz="1500" b="0" i="1" u="none" strike="noStrike" cap="none" normalizeH="0" baseline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)*P(</a:t>
            </a:r>
            <a:r>
              <a:rPr kumimoji="0" lang="en-US" altLang="en-US" sz="1500" b="0" i="1" u="none" strike="noStrike" cap="none" normalizeH="0" baseline="0" dirty="0" err="1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Domestic|No</a:t>
            </a:r>
            <a:r>
              <a:rPr kumimoji="0" lang="en-US" altLang="en-US" sz="1500" b="0" i="1" u="none" strike="noStrike" cap="none" normalizeH="0" baseline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) * P(No)</a:t>
            </a:r>
            <a:endParaRPr kumimoji="0" lang="en-US" altLang="en-US" sz="1500" b="0" i="1" u="none" strike="noStrike" cap="none" normalizeH="0" baseline="0" dirty="0" smtClean="0">
              <a:ln>
                <a:noFill/>
              </a:ln>
              <a:solidFill>
                <a:srgbClr val="292929"/>
              </a:solidFill>
              <a:effectLst/>
              <a:latin typeface="source-serif-pro"/>
            </a:endParaRPr>
          </a:p>
          <a:p>
            <a:pPr lvl="0"/>
            <a:r>
              <a:rPr lang="en-US" altLang="en-US" sz="1500" i="1" dirty="0" smtClean="0">
                <a:solidFill>
                  <a:srgbClr val="292929"/>
                </a:solidFill>
                <a:latin typeface="source-serif-pro"/>
              </a:rPr>
              <a:t>                          __________________________________________</a:t>
            </a:r>
          </a:p>
          <a:p>
            <a:pPr lvl="0"/>
            <a:r>
              <a:rPr lang="en-US" altLang="en-US" sz="1500" i="1" dirty="0" smtClean="0">
                <a:solidFill>
                  <a:srgbClr val="292929"/>
                </a:solidFill>
                <a:latin typeface="source-serif-pro"/>
              </a:rPr>
              <a:t>                                                              </a:t>
            </a:r>
            <a:r>
              <a:rPr kumimoji="0" lang="en-US" altLang="en-US" sz="1500" b="0" i="1" u="none" strike="noStrike" cap="none" normalizeH="0" baseline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P(today)</a:t>
            </a:r>
            <a:endParaRPr lang="en-US" altLang="en-US" sz="1500" i="1" dirty="0" smtClean="0">
              <a:solidFill>
                <a:srgbClr val="292929"/>
              </a:solidFill>
              <a:latin typeface="source-serif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1" u="none" strike="noStrike" cap="none" normalizeH="0" baseline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Since P(today) is common in both probabilities, we can ignore p(today) and find probabilities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1" u="none" strike="noStrike" cap="none" normalizeH="0" baseline="0" dirty="0" smtClean="0">
              <a:ln>
                <a:noFill/>
              </a:ln>
              <a:solidFill>
                <a:srgbClr val="292929"/>
              </a:solidFill>
              <a:effectLst/>
              <a:latin typeface="source-serif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1" u="none" strike="noStrike" cap="none" normalizeH="0" baseline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P(</a:t>
            </a:r>
            <a:r>
              <a:rPr kumimoji="0" lang="en-US" altLang="en-US" sz="1500" b="0" i="1" u="none" strike="noStrike" cap="none" normalizeH="0" baseline="0" dirty="0" err="1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Yes|today</a:t>
            </a:r>
            <a:r>
              <a:rPr kumimoji="0" lang="en-US" altLang="en-US" sz="1500" b="0" i="1" u="none" strike="noStrike" cap="none" normalizeH="0" baseline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) = 3/5*1/5*2/5*1 = 0.048   </a:t>
            </a:r>
            <a:r>
              <a:rPr kumimoji="0" lang="en-US" altLang="en-US" sz="1500" b="0" i="1" u="none" strike="noStrike" cap="none" normalizeH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 (</a:t>
            </a:r>
            <a:r>
              <a:rPr kumimoji="0" lang="en-US" altLang="en-US" sz="1500" b="0" i="1" u="none" strike="noStrike" cap="none" normalizeH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source-serif-pro"/>
              </a:rPr>
              <a:t>aane</a:t>
            </a:r>
            <a:r>
              <a:rPr kumimoji="0" lang="en-US" altLang="en-US" sz="1500" b="0" i="1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source-serif-pro"/>
              </a:rPr>
              <a:t> equation ma change </a:t>
            </a:r>
            <a:r>
              <a:rPr kumimoji="0" lang="en-US" altLang="en-US" sz="1500" b="0" i="1" u="none" strike="noStrike" cap="none" normalizeH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source-serif-pro"/>
              </a:rPr>
              <a:t>karvu</a:t>
            </a:r>
            <a:r>
              <a:rPr kumimoji="0" lang="en-US" altLang="en-US" sz="1500" b="0" i="1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source-serif-pro"/>
              </a:rPr>
              <a:t> image next slide ma </a:t>
            </a:r>
            <a:r>
              <a:rPr kumimoji="0" lang="en-US" altLang="en-US" sz="1500" b="0" i="1" u="none" strike="noStrike" cap="none" normalizeH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source-serif-pro"/>
              </a:rPr>
              <a:t>aapeli</a:t>
            </a:r>
            <a:r>
              <a:rPr kumimoji="0" lang="en-US" altLang="en-US" sz="1500" b="0" i="1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source-serif-pro"/>
              </a:rPr>
              <a:t> </a:t>
            </a:r>
            <a:r>
              <a:rPr kumimoji="0" lang="en-US" altLang="en-US" sz="1500" b="0" i="1" u="none" strike="noStrike" cap="none" normalizeH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source-serif-pro"/>
              </a:rPr>
              <a:t>chhe</a:t>
            </a:r>
            <a:r>
              <a:rPr kumimoji="0" lang="en-US" altLang="en-US" sz="1500" b="0" i="1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source-serif-pro"/>
              </a:rPr>
              <a:t> a </a:t>
            </a:r>
            <a:r>
              <a:rPr kumimoji="0" lang="en-US" altLang="en-US" sz="1500" b="0" i="1" u="none" strike="noStrike" cap="none" normalizeH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source-serif-pro"/>
              </a:rPr>
              <a:t>mujab</a:t>
            </a:r>
            <a:r>
              <a:rPr kumimoji="0" lang="en-US" altLang="en-US" sz="1500" b="0" i="1" u="none" strike="noStrike" cap="none" normalizeH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)</a:t>
            </a:r>
            <a:endParaRPr kumimoji="0" lang="en-US" altLang="en-US" sz="1500" b="0" i="1" u="none" strike="noStrike" cap="none" normalizeH="0" baseline="0" dirty="0" smtClean="0">
              <a:ln>
                <a:noFill/>
              </a:ln>
              <a:solidFill>
                <a:srgbClr val="292929"/>
              </a:solidFill>
              <a:effectLst/>
              <a:latin typeface="source-serif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1" u="none" strike="noStrike" cap="none" normalizeH="0" baseline="0" dirty="0" smtClean="0">
              <a:ln>
                <a:noFill/>
              </a:ln>
              <a:solidFill>
                <a:srgbClr val="292929"/>
              </a:solidFill>
              <a:effectLst/>
              <a:latin typeface="source-serif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/>
            <a:r>
              <a:rPr kumimoji="0" lang="en-US" altLang="en-US" sz="1500" b="0" i="1" u="none" strike="noStrike" cap="none" normalizeH="0" baseline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P(</a:t>
            </a:r>
            <a:r>
              <a:rPr kumimoji="0" lang="en-US" altLang="en-US" sz="1500" b="0" i="1" u="none" strike="noStrike" cap="none" normalizeH="0" baseline="0" dirty="0" err="1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No|today</a:t>
            </a:r>
            <a:r>
              <a:rPr kumimoji="0" lang="en-US" altLang="en-US" sz="1500" b="0" i="1" u="none" strike="noStrike" cap="none" normalizeH="0" baseline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) = 2/5*3/5*3/5*1 = 0.144 </a:t>
            </a:r>
            <a:r>
              <a:rPr kumimoji="0" lang="en-US" altLang="en-US" sz="15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source-serif-pro"/>
              </a:rPr>
              <a:t>(</a:t>
            </a:r>
            <a:r>
              <a:rPr kumimoji="0" lang="en-US" altLang="en-US" sz="1500" b="0" i="1" u="none" strike="noStrike" cap="none" normalizeH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source-serif-pro"/>
              </a:rPr>
              <a:t>aane</a:t>
            </a:r>
            <a:r>
              <a:rPr kumimoji="0" lang="en-US" altLang="en-US" sz="1500" b="0" i="1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source-serif-pro"/>
              </a:rPr>
              <a:t> equation ma change </a:t>
            </a:r>
            <a:r>
              <a:rPr kumimoji="0" lang="en-US" altLang="en-US" sz="1500" b="0" i="1" u="none" strike="noStrike" cap="none" normalizeH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source-serif-pro"/>
              </a:rPr>
              <a:t>karvu</a:t>
            </a:r>
            <a:r>
              <a:rPr kumimoji="0" lang="en-US" altLang="en-US" sz="1500" b="0" i="1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source-serif-pro"/>
              </a:rPr>
              <a:t> image next slide ma </a:t>
            </a:r>
            <a:r>
              <a:rPr kumimoji="0" lang="en-US" altLang="en-US" sz="1500" b="0" i="1" u="none" strike="noStrike" cap="none" normalizeH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source-serif-pro"/>
              </a:rPr>
              <a:t>aapeli</a:t>
            </a:r>
            <a:r>
              <a:rPr kumimoji="0" lang="en-US" altLang="en-US" sz="1500" b="0" i="1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source-serif-pro"/>
              </a:rPr>
              <a:t> </a:t>
            </a:r>
            <a:r>
              <a:rPr kumimoji="0" lang="en-US" altLang="en-US" sz="1500" b="0" i="1" u="none" strike="noStrike" cap="none" normalizeH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source-serif-pro"/>
              </a:rPr>
              <a:t>chhe</a:t>
            </a:r>
            <a:r>
              <a:rPr kumimoji="0" lang="en-US" altLang="en-US" sz="1500" b="0" i="1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source-serif-pro"/>
              </a:rPr>
              <a:t> a </a:t>
            </a:r>
            <a:r>
              <a:rPr kumimoji="0" lang="en-US" altLang="en-US" sz="1500" b="0" i="1" u="none" strike="noStrike" cap="none" normalizeH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source-serif-pro"/>
              </a:rPr>
              <a:t>mujab</a:t>
            </a:r>
            <a:r>
              <a:rPr kumimoji="0" lang="en-US" altLang="en-US" sz="1500" b="0" i="1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source-serif-pro"/>
              </a:rPr>
              <a:t>)</a:t>
            </a:r>
            <a:endParaRPr kumimoji="0" lang="en-US" altLang="en-US" sz="1500" b="0" i="1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source-serif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1" u="none" strike="noStrike" cap="none" normalizeH="0" baseline="0" dirty="0" smtClean="0">
              <a:ln>
                <a:noFill/>
              </a:ln>
              <a:solidFill>
                <a:srgbClr val="292929"/>
              </a:solidFill>
              <a:effectLst/>
              <a:latin typeface="source-serif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Here 0.144 &gt; 0.048, Which means car</a:t>
            </a:r>
            <a:r>
              <a:rPr kumimoji="0" lang="en-US" altLang="en-US" sz="1500" b="0" i="0" u="none" strike="noStrike" cap="none" normalizeH="0" dirty="0" smtClean="0">
                <a:ln>
                  <a:noFill/>
                </a:ln>
                <a:solidFill>
                  <a:srgbClr val="292929"/>
                </a:solidFill>
                <a:effectLst/>
                <a:latin typeface="source-serif-pro"/>
              </a:rPr>
              <a:t> is not stolen.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369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07" y="1227909"/>
            <a:ext cx="8772525" cy="255882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472" y="4075612"/>
            <a:ext cx="9258300" cy="20639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89166" y="182880"/>
            <a:ext cx="4323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Uper</a:t>
            </a:r>
            <a:r>
              <a:rPr lang="en-US" dirty="0" smtClean="0"/>
              <a:t> </a:t>
            </a:r>
            <a:r>
              <a:rPr lang="en-US" dirty="0" err="1" smtClean="0"/>
              <a:t>ni</a:t>
            </a:r>
            <a:r>
              <a:rPr lang="en-US" dirty="0" smtClean="0"/>
              <a:t> </a:t>
            </a:r>
            <a:r>
              <a:rPr lang="en-US" dirty="0" err="1" smtClean="0"/>
              <a:t>ppt</a:t>
            </a:r>
            <a:r>
              <a:rPr lang="en-US" dirty="0" smtClean="0"/>
              <a:t> ma </a:t>
            </a:r>
            <a:r>
              <a:rPr lang="en-US" dirty="0" err="1" smtClean="0"/>
              <a:t>lal</a:t>
            </a:r>
            <a:r>
              <a:rPr lang="en-US" dirty="0" smtClean="0"/>
              <a:t> </a:t>
            </a:r>
            <a:r>
              <a:rPr lang="en-US" dirty="0" err="1" smtClean="0"/>
              <a:t>akashare</a:t>
            </a:r>
            <a:r>
              <a:rPr lang="en-US" dirty="0" smtClean="0"/>
              <a:t> note </a:t>
            </a:r>
            <a:r>
              <a:rPr lang="en-US" dirty="0" err="1" smtClean="0"/>
              <a:t>aapi</a:t>
            </a:r>
            <a:r>
              <a:rPr lang="en-US" dirty="0" smtClean="0"/>
              <a:t> </a:t>
            </a:r>
            <a:r>
              <a:rPr lang="en-US" dirty="0" err="1" smtClean="0"/>
              <a:t>chhe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9160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250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source-serif-pro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2022-10-18T08:27:33Z</dcterms:created>
  <dcterms:modified xsi:type="dcterms:W3CDTF">2022-10-18T09:06:23Z</dcterms:modified>
</cp:coreProperties>
</file>