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05128F5-60FE-4E0D-983E-2B7F545A2229}" type="datetimeFigureOut">
              <a:rPr lang="en-IN" smtClean="0"/>
              <a:t>18-10-2022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5333BF-48D1-4B28-A599-354DFE6EAFE6}" type="slidenum">
              <a:rPr lang="en-IN" smtClean="0"/>
              <a:t>‹#›</a:t>
            </a:fld>
            <a:endParaRPr lang="en-IN"/>
          </a:p>
        </p:txBody>
      </p:sp>
    </p:spTree>
    <p:extLst>
      <p:ext uri="{BB962C8B-B14F-4D97-AF65-F5344CB8AC3E}">
        <p14:creationId xmlns:p14="http://schemas.microsoft.com/office/powerpoint/2010/main" val="744332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05128F5-60FE-4E0D-983E-2B7F545A2229}" type="datetimeFigureOut">
              <a:rPr lang="en-IN" smtClean="0"/>
              <a:t>18-10-2022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5333BF-48D1-4B28-A599-354DFE6EAFE6}" type="slidenum">
              <a:rPr lang="en-IN" smtClean="0"/>
              <a:t>‹#›</a:t>
            </a:fld>
            <a:endParaRPr lang="en-IN"/>
          </a:p>
        </p:txBody>
      </p:sp>
    </p:spTree>
    <p:extLst>
      <p:ext uri="{BB962C8B-B14F-4D97-AF65-F5344CB8AC3E}">
        <p14:creationId xmlns:p14="http://schemas.microsoft.com/office/powerpoint/2010/main" val="4215493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05128F5-60FE-4E0D-983E-2B7F545A2229}" type="datetimeFigureOut">
              <a:rPr lang="en-IN" smtClean="0"/>
              <a:t>18-10-2022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5333BF-48D1-4B28-A599-354DFE6EAFE6}" type="slidenum">
              <a:rPr lang="en-IN" smtClean="0"/>
              <a:t>‹#›</a:t>
            </a:fld>
            <a:endParaRPr lang="en-IN"/>
          </a:p>
        </p:txBody>
      </p:sp>
    </p:spTree>
    <p:extLst>
      <p:ext uri="{BB962C8B-B14F-4D97-AF65-F5344CB8AC3E}">
        <p14:creationId xmlns:p14="http://schemas.microsoft.com/office/powerpoint/2010/main" val="2151896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05128F5-60FE-4E0D-983E-2B7F545A2229}" type="datetimeFigureOut">
              <a:rPr lang="en-IN" smtClean="0"/>
              <a:t>18-10-2022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75333BF-48D1-4B28-A599-354DFE6EAFE6}" type="slidenum">
              <a:rPr lang="en-IN" smtClean="0"/>
              <a:t>‹#›</a:t>
            </a:fld>
            <a:endParaRPr lang="en-IN"/>
          </a:p>
        </p:txBody>
      </p:sp>
    </p:spTree>
    <p:extLst>
      <p:ext uri="{BB962C8B-B14F-4D97-AF65-F5344CB8AC3E}">
        <p14:creationId xmlns:p14="http://schemas.microsoft.com/office/powerpoint/2010/main" val="560817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205128F5-60FE-4E0D-983E-2B7F545A2229}" type="datetimeFigureOut">
              <a:rPr lang="en-IN" smtClean="0"/>
              <a:t>18-10-2022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75333BF-48D1-4B28-A599-354DFE6EAFE6}" type="slidenum">
              <a:rPr lang="en-IN" smtClean="0"/>
              <a:t>‹#›</a:t>
            </a:fld>
            <a:endParaRPr lang="en-IN"/>
          </a:p>
        </p:txBody>
      </p:sp>
    </p:spTree>
    <p:extLst>
      <p:ext uri="{BB962C8B-B14F-4D97-AF65-F5344CB8AC3E}">
        <p14:creationId xmlns:p14="http://schemas.microsoft.com/office/powerpoint/2010/main" val="3489178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205128F5-60FE-4E0D-983E-2B7F545A2229}" type="datetimeFigureOut">
              <a:rPr lang="en-IN" smtClean="0"/>
              <a:t>18-10-2022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75333BF-48D1-4B28-A599-354DFE6EAFE6}" type="slidenum">
              <a:rPr lang="en-IN" smtClean="0"/>
              <a:t>‹#›</a:t>
            </a:fld>
            <a:endParaRPr lang="en-IN"/>
          </a:p>
        </p:txBody>
      </p:sp>
    </p:spTree>
    <p:extLst>
      <p:ext uri="{BB962C8B-B14F-4D97-AF65-F5344CB8AC3E}">
        <p14:creationId xmlns:p14="http://schemas.microsoft.com/office/powerpoint/2010/main" val="3858445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5128F5-60FE-4E0D-983E-2B7F545A2229}" type="datetimeFigureOut">
              <a:rPr lang="en-IN" smtClean="0"/>
              <a:t>18-10-2022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75333BF-48D1-4B28-A599-354DFE6EAFE6}" type="slidenum">
              <a:rPr lang="en-IN" smtClean="0"/>
              <a:t>‹#›</a:t>
            </a:fld>
            <a:endParaRPr lang="en-IN"/>
          </a:p>
        </p:txBody>
      </p:sp>
    </p:spTree>
    <p:extLst>
      <p:ext uri="{BB962C8B-B14F-4D97-AF65-F5344CB8AC3E}">
        <p14:creationId xmlns:p14="http://schemas.microsoft.com/office/powerpoint/2010/main" val="3925940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05128F5-60FE-4E0D-983E-2B7F545A2229}" type="datetimeFigureOut">
              <a:rPr lang="en-IN" smtClean="0"/>
              <a:t>18-10-2022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75333BF-48D1-4B28-A599-354DFE6EAFE6}" type="slidenum">
              <a:rPr lang="en-IN" smtClean="0"/>
              <a:t>‹#›</a:t>
            </a:fld>
            <a:endParaRPr lang="en-IN"/>
          </a:p>
        </p:txBody>
      </p:sp>
    </p:spTree>
    <p:extLst>
      <p:ext uri="{BB962C8B-B14F-4D97-AF65-F5344CB8AC3E}">
        <p14:creationId xmlns:p14="http://schemas.microsoft.com/office/powerpoint/2010/main" val="3206623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05128F5-60FE-4E0D-983E-2B7F545A2229}" type="datetimeFigureOut">
              <a:rPr lang="en-IN" smtClean="0"/>
              <a:t>18-10-2022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75333BF-48D1-4B28-A599-354DFE6EAFE6}" type="slidenum">
              <a:rPr lang="en-IN" smtClean="0"/>
              <a:t>‹#›</a:t>
            </a:fld>
            <a:endParaRPr lang="en-IN"/>
          </a:p>
        </p:txBody>
      </p:sp>
    </p:spTree>
    <p:extLst>
      <p:ext uri="{BB962C8B-B14F-4D97-AF65-F5344CB8AC3E}">
        <p14:creationId xmlns:p14="http://schemas.microsoft.com/office/powerpoint/2010/main" val="962243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05128F5-60FE-4E0D-983E-2B7F545A2229}" type="datetimeFigureOut">
              <a:rPr lang="en-IN" smtClean="0"/>
              <a:t>18-10-2022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5333BF-48D1-4B28-A599-354DFE6EAFE6}" type="slidenum">
              <a:rPr lang="en-IN" smtClean="0"/>
              <a:t>‹#›</a:t>
            </a:fld>
            <a:endParaRPr lang="en-IN"/>
          </a:p>
        </p:txBody>
      </p:sp>
    </p:spTree>
    <p:extLst>
      <p:ext uri="{BB962C8B-B14F-4D97-AF65-F5344CB8AC3E}">
        <p14:creationId xmlns:p14="http://schemas.microsoft.com/office/powerpoint/2010/main" val="1289406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05128F5-60FE-4E0D-983E-2B7F545A2229}" type="datetimeFigureOut">
              <a:rPr lang="en-IN" smtClean="0"/>
              <a:t>18-10-2022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5333BF-48D1-4B28-A599-354DFE6EAFE6}" type="slidenum">
              <a:rPr lang="en-IN" smtClean="0"/>
              <a:t>‹#›</a:t>
            </a:fld>
            <a:endParaRPr lang="en-IN"/>
          </a:p>
        </p:txBody>
      </p:sp>
    </p:spTree>
    <p:extLst>
      <p:ext uri="{BB962C8B-B14F-4D97-AF65-F5344CB8AC3E}">
        <p14:creationId xmlns:p14="http://schemas.microsoft.com/office/powerpoint/2010/main" val="611074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5128F5-60FE-4E0D-983E-2B7F545A2229}" type="datetimeFigureOut">
              <a:rPr lang="en-IN" smtClean="0"/>
              <a:t>18-10-2022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5333BF-48D1-4B28-A599-354DFE6EAFE6}" type="slidenum">
              <a:rPr lang="en-IN" smtClean="0"/>
              <a:t>‹#›</a:t>
            </a:fld>
            <a:endParaRPr lang="en-IN"/>
          </a:p>
        </p:txBody>
      </p:sp>
    </p:spTree>
    <p:extLst>
      <p:ext uri="{BB962C8B-B14F-4D97-AF65-F5344CB8AC3E}">
        <p14:creationId xmlns:p14="http://schemas.microsoft.com/office/powerpoint/2010/main" val="11719264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64588" y="3019585"/>
            <a:ext cx="6911824" cy="769441"/>
          </a:xfrm>
          <a:prstGeom prst="rect">
            <a:avLst/>
          </a:prstGeom>
          <a:noFill/>
        </p:spPr>
        <p:txBody>
          <a:bodyPr wrap="square" lIns="91440" tIns="45720" rIns="91440" bIns="45720">
            <a:spAutoFit/>
          </a:bodyPr>
          <a:lstStyle/>
          <a:p>
            <a:r>
              <a:rPr lang="en-IN" sz="4400" dirty="0" smtClean="0">
                <a:ln w="0"/>
                <a:solidFill>
                  <a:schemeClr val="accent1"/>
                </a:solidFill>
                <a:effectLst>
                  <a:outerShdw blurRad="38100" dist="25400" dir="5400000" algn="ctr" rotWithShape="0">
                    <a:srgbClr val="6E747A">
                      <a:alpha val="43000"/>
                    </a:srgbClr>
                  </a:outerShdw>
                </a:effectLst>
              </a:rPr>
              <a:t>K-Nearest Neighbour</a:t>
            </a:r>
            <a:endParaRPr lang="en-IN" sz="440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520215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6686" y="720523"/>
            <a:ext cx="10759440" cy="1200329"/>
          </a:xfrm>
          <a:prstGeom prst="rect">
            <a:avLst/>
          </a:prstGeom>
        </p:spPr>
        <p:txBody>
          <a:bodyPr wrap="square">
            <a:spAutoFit/>
          </a:bodyPr>
          <a:lstStyle/>
          <a:p>
            <a:r>
              <a:rPr lang="en-US" b="0" i="0" dirty="0" smtClean="0">
                <a:solidFill>
                  <a:srgbClr val="292929"/>
                </a:solidFill>
                <a:effectLst/>
                <a:latin typeface="source-serif-pro"/>
              </a:rPr>
              <a:t> KNN tries to predict the correct class for the test data by calculating the distance between the test data and all the training points. </a:t>
            </a:r>
            <a:r>
              <a:rPr lang="en-US" dirty="0" smtClean="0"/>
              <a:t> </a:t>
            </a:r>
            <a:r>
              <a:rPr lang="en-US" dirty="0"/>
              <a:t> K number of points which is closet to the test data. The KNN algorithm calculates the probability of the test data belonging to the classes of ‘K’ training data and class holds the highest probability will be selected.</a:t>
            </a:r>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8019" y="2327564"/>
            <a:ext cx="8666018" cy="4031672"/>
          </a:xfrm>
          <a:prstGeom prst="rect">
            <a:avLst/>
          </a:prstGeom>
        </p:spPr>
      </p:pic>
    </p:spTree>
    <p:extLst>
      <p:ext uri="{BB962C8B-B14F-4D97-AF65-F5344CB8AC3E}">
        <p14:creationId xmlns:p14="http://schemas.microsoft.com/office/powerpoint/2010/main" val="95804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26867" y="315353"/>
            <a:ext cx="9326880" cy="369332"/>
          </a:xfrm>
          <a:prstGeom prst="rect">
            <a:avLst/>
          </a:prstGeom>
          <a:noFill/>
        </p:spPr>
        <p:txBody>
          <a:bodyPr wrap="square" rtlCol="0">
            <a:spAutoFit/>
          </a:bodyPr>
          <a:lstStyle/>
          <a:p>
            <a:r>
              <a:rPr lang="en-US" dirty="0" smtClean="0"/>
              <a:t>Working of K-NN algorithm</a:t>
            </a:r>
            <a:endParaRPr lang="en-IN" dirty="0"/>
          </a:p>
        </p:txBody>
      </p:sp>
      <p:sp>
        <p:nvSpPr>
          <p:cNvPr id="4" name="Rectangle 3"/>
          <p:cNvSpPr/>
          <p:nvPr/>
        </p:nvSpPr>
        <p:spPr>
          <a:xfrm>
            <a:off x="526867" y="996464"/>
            <a:ext cx="9988733" cy="923330"/>
          </a:xfrm>
          <a:prstGeom prst="rect">
            <a:avLst/>
          </a:prstGeom>
        </p:spPr>
        <p:txBody>
          <a:bodyPr wrap="square">
            <a:spAutoFit/>
          </a:bodyPr>
          <a:lstStyle/>
          <a:p>
            <a:r>
              <a:rPr lang="en-US" b="0" i="0" dirty="0" smtClean="0">
                <a:solidFill>
                  <a:srgbClr val="292929"/>
                </a:solidFill>
                <a:effectLst/>
                <a:latin typeface="source-serif-pro"/>
              </a:rPr>
              <a:t>Consider example that two categories, i.e., Category A and Category B, and we have a new data point x1, so this data point will lie in which of these categories. To solve this type of problem, we need a K-NN algorithm.</a:t>
            </a:r>
            <a:endParaRPr lang="en-IN" dirty="0"/>
          </a:p>
        </p:txBody>
      </p:sp>
      <p:pic>
        <p:nvPicPr>
          <p:cNvPr id="6" name="Picture 5"/>
          <p:cNvPicPr>
            <a:picLocks noChangeAspect="1"/>
          </p:cNvPicPr>
          <p:nvPr/>
        </p:nvPicPr>
        <p:blipFill>
          <a:blip r:embed="rId2"/>
          <a:stretch>
            <a:fillRect/>
          </a:stretch>
        </p:blipFill>
        <p:spPr>
          <a:xfrm>
            <a:off x="2442754" y="2259543"/>
            <a:ext cx="3741283" cy="2781300"/>
          </a:xfrm>
          <a:prstGeom prst="rect">
            <a:avLst/>
          </a:prstGeom>
        </p:spPr>
      </p:pic>
    </p:spTree>
    <p:extLst>
      <p:ext uri="{BB962C8B-B14F-4D97-AF65-F5344CB8AC3E}">
        <p14:creationId xmlns:p14="http://schemas.microsoft.com/office/powerpoint/2010/main" val="3879916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38193" y="357442"/>
            <a:ext cx="8327023" cy="2031325"/>
          </a:xfrm>
          <a:prstGeom prst="rect">
            <a:avLst/>
          </a:prstGeom>
        </p:spPr>
        <p:txBody>
          <a:bodyPr wrap="none">
            <a:spAutoFit/>
          </a:bodyPr>
          <a:lstStyle/>
          <a:p>
            <a:pPr>
              <a:buFont typeface="Arial" panose="020B0604020202020204" pitchFamily="34" charset="0"/>
              <a:buChar char="•"/>
            </a:pPr>
            <a:r>
              <a:rPr lang="en-US" b="0" i="0" dirty="0" smtClean="0">
                <a:solidFill>
                  <a:srgbClr val="292929"/>
                </a:solidFill>
                <a:effectLst/>
                <a:latin typeface="source-serif-pro"/>
              </a:rPr>
              <a:t>Step-1: Select the number K of the neighbors </a:t>
            </a:r>
            <a:r>
              <a:rPr lang="en-US" dirty="0" smtClean="0">
                <a:solidFill>
                  <a:srgbClr val="292929"/>
                </a:solidFill>
                <a:latin typeface="source-serif-pro"/>
              </a:rPr>
              <a:t>(</a:t>
            </a:r>
            <a:r>
              <a:rPr lang="en-US" dirty="0" err="1" smtClean="0">
                <a:solidFill>
                  <a:srgbClr val="292929"/>
                </a:solidFill>
                <a:latin typeface="source-serif-pro"/>
              </a:rPr>
              <a:t>i.e</a:t>
            </a:r>
            <a:r>
              <a:rPr lang="en-US" dirty="0" smtClean="0">
                <a:solidFill>
                  <a:srgbClr val="292929"/>
                </a:solidFill>
                <a:latin typeface="source-serif-pro"/>
              </a:rPr>
              <a:t> K = 5)</a:t>
            </a:r>
            <a:endParaRPr lang="en-US" b="0" i="0" dirty="0" smtClean="0">
              <a:solidFill>
                <a:srgbClr val="292929"/>
              </a:solidFill>
              <a:effectLst/>
              <a:latin typeface="source-serif-pro"/>
            </a:endParaRPr>
          </a:p>
          <a:p>
            <a:pPr>
              <a:buFont typeface="Arial" panose="020B0604020202020204" pitchFamily="34" charset="0"/>
              <a:buChar char="•"/>
            </a:pPr>
            <a:endParaRPr lang="en-US" dirty="0">
              <a:solidFill>
                <a:srgbClr val="292929"/>
              </a:solidFill>
              <a:latin typeface="source-serif-pro"/>
            </a:endParaRPr>
          </a:p>
          <a:p>
            <a:pPr>
              <a:buFont typeface="Arial" panose="020B0604020202020204" pitchFamily="34" charset="0"/>
              <a:buChar char="•"/>
            </a:pPr>
            <a:r>
              <a:rPr lang="en-US" b="0" i="0" dirty="0" smtClean="0">
                <a:solidFill>
                  <a:srgbClr val="292929"/>
                </a:solidFill>
                <a:effectLst/>
                <a:latin typeface="source-serif-pro"/>
              </a:rPr>
              <a:t>Step-2: Calculate the Euclidean distance of K number of neighbors.</a:t>
            </a:r>
          </a:p>
          <a:p>
            <a:pPr>
              <a:buFont typeface="Arial" panose="020B0604020202020204" pitchFamily="34" charset="0"/>
              <a:buChar char="•"/>
            </a:pPr>
            <a:endParaRPr lang="en-US" b="0" i="0" dirty="0" smtClean="0">
              <a:solidFill>
                <a:srgbClr val="292929"/>
              </a:solidFill>
              <a:effectLst/>
              <a:latin typeface="source-serif-pro"/>
            </a:endParaRPr>
          </a:p>
          <a:p>
            <a:pPr>
              <a:buFont typeface="Arial" panose="020B0604020202020204" pitchFamily="34" charset="0"/>
              <a:buChar char="•"/>
            </a:pPr>
            <a:r>
              <a:rPr lang="en-US" b="0" i="0" dirty="0" smtClean="0">
                <a:solidFill>
                  <a:srgbClr val="292929"/>
                </a:solidFill>
                <a:effectLst/>
                <a:latin typeface="source-serif-pro"/>
              </a:rPr>
              <a:t>Step-3: Take the K nearest neighbors as per the calculated Euclidean distance.</a:t>
            </a:r>
          </a:p>
          <a:p>
            <a:pPr>
              <a:buFont typeface="Arial" panose="020B0604020202020204" pitchFamily="34" charset="0"/>
              <a:buChar char="•"/>
            </a:pPr>
            <a:endParaRPr lang="en-US" b="0" i="0" dirty="0" smtClean="0">
              <a:solidFill>
                <a:srgbClr val="292929"/>
              </a:solidFill>
              <a:effectLst/>
              <a:latin typeface="source-serif-pro"/>
            </a:endParaRPr>
          </a:p>
          <a:p>
            <a:pPr>
              <a:buFont typeface="Arial" panose="020B0604020202020204" pitchFamily="34" charset="0"/>
              <a:buChar char="•"/>
            </a:pPr>
            <a:endParaRPr lang="en-US" b="0" i="0" dirty="0" smtClean="0">
              <a:solidFill>
                <a:srgbClr val="292929"/>
              </a:solidFill>
              <a:effectLst/>
              <a:latin typeface="source-serif-pro"/>
            </a:endParaRPr>
          </a:p>
        </p:txBody>
      </p:sp>
      <p:pic>
        <p:nvPicPr>
          <p:cNvPr id="5" name="Picture 4"/>
          <p:cNvPicPr>
            <a:picLocks noChangeAspect="1"/>
          </p:cNvPicPr>
          <p:nvPr/>
        </p:nvPicPr>
        <p:blipFill>
          <a:blip r:embed="rId2"/>
          <a:stretch>
            <a:fillRect/>
          </a:stretch>
        </p:blipFill>
        <p:spPr>
          <a:xfrm>
            <a:off x="1461815" y="2536916"/>
            <a:ext cx="6603002" cy="3848100"/>
          </a:xfrm>
          <a:prstGeom prst="rect">
            <a:avLst/>
          </a:prstGeom>
        </p:spPr>
      </p:pic>
    </p:spTree>
    <p:extLst>
      <p:ext uri="{BB962C8B-B14F-4D97-AF65-F5344CB8AC3E}">
        <p14:creationId xmlns:p14="http://schemas.microsoft.com/office/powerpoint/2010/main" val="3348031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0012" y="545349"/>
            <a:ext cx="7872548" cy="2031325"/>
          </a:xfrm>
          <a:prstGeom prst="rect">
            <a:avLst/>
          </a:prstGeom>
        </p:spPr>
        <p:txBody>
          <a:bodyPr wrap="square">
            <a:spAutoFit/>
          </a:bodyPr>
          <a:lstStyle/>
          <a:p>
            <a:pPr>
              <a:buFont typeface="Arial" panose="020B0604020202020204" pitchFamily="34" charset="0"/>
              <a:buChar char="•"/>
            </a:pPr>
            <a:r>
              <a:rPr lang="en-US" b="0" i="0" dirty="0" smtClean="0">
                <a:solidFill>
                  <a:srgbClr val="292929"/>
                </a:solidFill>
                <a:effectLst/>
                <a:latin typeface="source-serif-pro"/>
              </a:rPr>
              <a:t>Step-4: Among these k neighbors, count the number of the data points in each category.</a:t>
            </a:r>
          </a:p>
          <a:p>
            <a:pPr>
              <a:buFont typeface="Arial" panose="020B0604020202020204" pitchFamily="34" charset="0"/>
              <a:buChar char="•"/>
            </a:pPr>
            <a:endParaRPr lang="en-US" b="0" i="0" dirty="0" smtClean="0">
              <a:solidFill>
                <a:srgbClr val="292929"/>
              </a:solidFill>
              <a:effectLst/>
              <a:latin typeface="source-serif-pro"/>
            </a:endParaRPr>
          </a:p>
          <a:p>
            <a:pPr>
              <a:buFont typeface="Arial" panose="020B0604020202020204" pitchFamily="34" charset="0"/>
              <a:buChar char="•"/>
            </a:pPr>
            <a:r>
              <a:rPr lang="en-US" b="0" i="0" dirty="0" smtClean="0">
                <a:solidFill>
                  <a:srgbClr val="292929"/>
                </a:solidFill>
                <a:effectLst/>
                <a:latin typeface="source-serif-pro"/>
              </a:rPr>
              <a:t>Step-5: Assign the new data points to that category for which the number of the neighbor is maximum.</a:t>
            </a:r>
          </a:p>
          <a:p>
            <a:pPr>
              <a:buFont typeface="Arial" panose="020B0604020202020204" pitchFamily="34" charset="0"/>
              <a:buChar char="•"/>
            </a:pPr>
            <a:endParaRPr lang="en-US" b="0" i="0" dirty="0" smtClean="0">
              <a:solidFill>
                <a:srgbClr val="292929"/>
              </a:solidFill>
              <a:effectLst/>
              <a:latin typeface="source-serif-pro"/>
            </a:endParaRPr>
          </a:p>
          <a:p>
            <a:pPr>
              <a:buFont typeface="Arial" panose="020B0604020202020204" pitchFamily="34" charset="0"/>
              <a:buChar char="•"/>
            </a:pPr>
            <a:r>
              <a:rPr lang="en-US" b="0" i="0" dirty="0" smtClean="0">
                <a:solidFill>
                  <a:srgbClr val="292929"/>
                </a:solidFill>
                <a:effectLst/>
                <a:latin typeface="source-serif-pro"/>
              </a:rPr>
              <a:t>Step-6: Our model is ready.</a:t>
            </a:r>
            <a:endParaRPr lang="en-US" b="0" i="0" dirty="0">
              <a:solidFill>
                <a:srgbClr val="292929"/>
              </a:solidFill>
              <a:effectLst/>
              <a:latin typeface="source-serif-pro"/>
            </a:endParaRPr>
          </a:p>
        </p:txBody>
      </p:sp>
      <p:pic>
        <p:nvPicPr>
          <p:cNvPr id="3" name="Picture 2"/>
          <p:cNvPicPr>
            <a:picLocks noChangeAspect="1"/>
          </p:cNvPicPr>
          <p:nvPr/>
        </p:nvPicPr>
        <p:blipFill>
          <a:blip r:embed="rId2"/>
          <a:stretch>
            <a:fillRect/>
          </a:stretch>
        </p:blipFill>
        <p:spPr>
          <a:xfrm>
            <a:off x="712470" y="2783749"/>
            <a:ext cx="4914900" cy="3981450"/>
          </a:xfrm>
          <a:prstGeom prst="rect">
            <a:avLst/>
          </a:prstGeom>
        </p:spPr>
      </p:pic>
      <p:pic>
        <p:nvPicPr>
          <p:cNvPr id="4" name="Picture 3"/>
          <p:cNvPicPr>
            <a:picLocks noChangeAspect="1"/>
          </p:cNvPicPr>
          <p:nvPr/>
        </p:nvPicPr>
        <p:blipFill>
          <a:blip r:embed="rId3"/>
          <a:stretch>
            <a:fillRect/>
          </a:stretch>
        </p:blipFill>
        <p:spPr>
          <a:xfrm>
            <a:off x="6671310" y="2907574"/>
            <a:ext cx="4762500" cy="3733800"/>
          </a:xfrm>
          <a:prstGeom prst="rect">
            <a:avLst/>
          </a:prstGeom>
        </p:spPr>
      </p:pic>
    </p:spTree>
    <p:extLst>
      <p:ext uri="{BB962C8B-B14F-4D97-AF65-F5344CB8AC3E}">
        <p14:creationId xmlns:p14="http://schemas.microsoft.com/office/powerpoint/2010/main" val="3443962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88274" y="359956"/>
            <a:ext cx="7746274" cy="646331"/>
          </a:xfrm>
          <a:prstGeom prst="rect">
            <a:avLst/>
          </a:prstGeom>
        </p:spPr>
        <p:txBody>
          <a:bodyPr wrap="square">
            <a:spAutoFit/>
          </a:bodyPr>
          <a:lstStyle/>
          <a:p>
            <a:pPr>
              <a:buFont typeface="Arial" panose="020B0604020202020204" pitchFamily="34" charset="0"/>
              <a:buChar char="•"/>
            </a:pPr>
            <a:r>
              <a:rPr lang="en-US" b="0" i="0" dirty="0" smtClean="0">
                <a:solidFill>
                  <a:srgbClr val="292929"/>
                </a:solidFill>
                <a:effectLst/>
                <a:latin typeface="source-serif-pro"/>
              </a:rPr>
              <a:t>Euclidean distance between the data points is the distance between two points. It can be calculated as:</a:t>
            </a:r>
            <a:endParaRPr lang="en-US" b="0" i="0" dirty="0">
              <a:solidFill>
                <a:srgbClr val="292929"/>
              </a:solidFill>
              <a:effectLst/>
              <a:latin typeface="source-serif-pro"/>
            </a:endParaRPr>
          </a:p>
        </p:txBody>
      </p:sp>
      <p:pic>
        <p:nvPicPr>
          <p:cNvPr id="5" name="Picture 4"/>
          <p:cNvPicPr>
            <a:picLocks noChangeAspect="1"/>
          </p:cNvPicPr>
          <p:nvPr/>
        </p:nvPicPr>
        <p:blipFill>
          <a:blip r:embed="rId2"/>
          <a:stretch>
            <a:fillRect/>
          </a:stretch>
        </p:blipFill>
        <p:spPr>
          <a:xfrm>
            <a:off x="2389686" y="1198380"/>
            <a:ext cx="4743450" cy="3990975"/>
          </a:xfrm>
          <a:prstGeom prst="rect">
            <a:avLst/>
          </a:prstGeom>
        </p:spPr>
      </p:pic>
      <p:sp>
        <p:nvSpPr>
          <p:cNvPr id="6" name="Rectangle 5"/>
          <p:cNvSpPr/>
          <p:nvPr/>
        </p:nvSpPr>
        <p:spPr>
          <a:xfrm>
            <a:off x="709749" y="5708020"/>
            <a:ext cx="10067108" cy="646331"/>
          </a:xfrm>
          <a:prstGeom prst="rect">
            <a:avLst/>
          </a:prstGeom>
        </p:spPr>
        <p:txBody>
          <a:bodyPr wrap="square">
            <a:spAutoFit/>
          </a:bodyPr>
          <a:lstStyle/>
          <a:p>
            <a:r>
              <a:rPr lang="en-IN" b="0" i="0" dirty="0" smtClean="0">
                <a:solidFill>
                  <a:srgbClr val="111111"/>
                </a:solidFill>
                <a:effectLst/>
                <a:latin typeface="Roboto"/>
              </a:rPr>
              <a:t>Note:- Metric to use for</a:t>
            </a:r>
            <a:r>
              <a:rPr lang="en-IN" b="1" i="0" dirty="0" smtClean="0">
                <a:solidFill>
                  <a:srgbClr val="111111"/>
                </a:solidFill>
                <a:effectLst/>
                <a:latin typeface="Roboto"/>
              </a:rPr>
              <a:t> distance computation </a:t>
            </a:r>
            <a:r>
              <a:rPr lang="en-IN" b="0" i="0" dirty="0" smtClean="0">
                <a:solidFill>
                  <a:srgbClr val="111111"/>
                </a:solidFill>
                <a:effectLst/>
                <a:latin typeface="Roboto"/>
              </a:rPr>
              <a:t>is “</a:t>
            </a:r>
            <a:r>
              <a:rPr lang="en-IN" b="0" i="0" dirty="0" err="1" smtClean="0">
                <a:solidFill>
                  <a:srgbClr val="111111"/>
                </a:solidFill>
                <a:effectLst/>
                <a:latin typeface="Roboto"/>
              </a:rPr>
              <a:t>minkowski</a:t>
            </a:r>
            <a:r>
              <a:rPr lang="en-IN" b="0" i="0" dirty="0" smtClean="0">
                <a:solidFill>
                  <a:srgbClr val="111111"/>
                </a:solidFill>
                <a:effectLst/>
                <a:latin typeface="Roboto"/>
              </a:rPr>
              <a:t>”, which results in the standard Euclidean distance when p = 2.</a:t>
            </a:r>
            <a:endParaRPr lang="en-IN" dirty="0"/>
          </a:p>
        </p:txBody>
      </p:sp>
    </p:spTree>
    <p:extLst>
      <p:ext uri="{BB962C8B-B14F-4D97-AF65-F5344CB8AC3E}">
        <p14:creationId xmlns:p14="http://schemas.microsoft.com/office/powerpoint/2010/main" val="4072225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165</Words>
  <Application>Microsoft Office PowerPoint</Application>
  <PresentationFormat>Widescreen</PresentationFormat>
  <Paragraphs>16</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Roboto</vt:lpstr>
      <vt:lpstr>source-serif-pro</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4</cp:revision>
  <dcterms:created xsi:type="dcterms:W3CDTF">2022-10-18T06:44:21Z</dcterms:created>
  <dcterms:modified xsi:type="dcterms:W3CDTF">2022-10-18T07:02:57Z</dcterms:modified>
</cp:coreProperties>
</file>