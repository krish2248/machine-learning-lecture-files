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4" r:id="rId4"/>
    <p:sldId id="258" r:id="rId5"/>
    <p:sldId id="259" r:id="rId6"/>
    <p:sldId id="265" r:id="rId7"/>
    <p:sldId id="261" r:id="rId8"/>
    <p:sldId id="260"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11/3/2022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11/3/2022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Machine learning </a:t>
            </a:r>
            <a:endParaRPr lang="en-IN" dirty="0"/>
          </a:p>
        </p:txBody>
      </p:sp>
    </p:spTree>
    <p:extLst>
      <p:ext uri="{BB962C8B-B14F-4D97-AF65-F5344CB8AC3E}">
        <p14:creationId xmlns:p14="http://schemas.microsoft.com/office/powerpoint/2010/main" val="401731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br>
              <a:rPr lang="en-US" dirty="0" smtClean="0"/>
            </a:br>
            <a:endParaRPr lang="en-IN" dirty="0"/>
          </a:p>
        </p:txBody>
      </p:sp>
      <p:sp>
        <p:nvSpPr>
          <p:cNvPr id="3" name="Content Placeholder 2"/>
          <p:cNvSpPr>
            <a:spLocks noGrp="1"/>
          </p:cNvSpPr>
          <p:nvPr>
            <p:ph idx="1"/>
          </p:nvPr>
        </p:nvSpPr>
        <p:spPr/>
        <p:txBody>
          <a:bodyPr/>
          <a:lstStyle/>
          <a:p>
            <a:r>
              <a:rPr lang="en-US" dirty="0"/>
              <a:t>M</a:t>
            </a:r>
            <a:r>
              <a:rPr lang="en-US" dirty="0" smtClean="0"/>
              <a:t>achine </a:t>
            </a:r>
            <a:r>
              <a:rPr lang="en-US" dirty="0"/>
              <a:t>learning is a branch of artificial intelligence (AI) focused on building applications that learn from data and improve their accuracy over time without being explicit </a:t>
            </a:r>
            <a:r>
              <a:rPr lang="en-US" dirty="0" smtClean="0"/>
              <a:t>programmed.</a:t>
            </a:r>
            <a:endParaRPr lang="en-IN" dirty="0"/>
          </a:p>
        </p:txBody>
      </p:sp>
    </p:spTree>
    <p:extLst>
      <p:ext uri="{BB962C8B-B14F-4D97-AF65-F5344CB8AC3E}">
        <p14:creationId xmlns:p14="http://schemas.microsoft.com/office/powerpoint/2010/main" val="22418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of training ML model</a:t>
            </a:r>
            <a:endParaRPr lang="en-IN" dirty="0"/>
          </a:p>
        </p:txBody>
      </p:sp>
      <p:sp>
        <p:nvSpPr>
          <p:cNvPr id="3" name="Content Placeholder 2"/>
          <p:cNvSpPr>
            <a:spLocks noGrp="1"/>
          </p:cNvSpPr>
          <p:nvPr>
            <p:ph idx="1"/>
          </p:nvPr>
        </p:nvSpPr>
        <p:spPr/>
        <p:txBody>
          <a:bodyPr/>
          <a:lstStyle/>
          <a:p>
            <a:r>
              <a:rPr lang="en-US" b="1" dirty="0" smtClean="0">
                <a:latin typeface="Inter"/>
              </a:rPr>
              <a:t>Data acquiring: </a:t>
            </a:r>
            <a:r>
              <a:rPr lang="en-US" dirty="0" smtClean="0">
                <a:latin typeface="Inter"/>
              </a:rPr>
              <a:t>gather data from different source</a:t>
            </a:r>
          </a:p>
          <a:p>
            <a:r>
              <a:rPr lang="en-US" b="1" dirty="0" smtClean="0">
                <a:latin typeface="Inter"/>
              </a:rPr>
              <a:t>Data preprocessing: </a:t>
            </a:r>
            <a:r>
              <a:rPr lang="en-US" dirty="0" smtClean="0">
                <a:latin typeface="Inter"/>
              </a:rPr>
              <a:t>process data so it can be applicable on ml algorithms</a:t>
            </a:r>
          </a:p>
          <a:p>
            <a:r>
              <a:rPr lang="en-US" b="1" dirty="0" smtClean="0">
                <a:latin typeface="Inter"/>
              </a:rPr>
              <a:t>Define</a:t>
            </a:r>
            <a:r>
              <a:rPr lang="en-US" b="1" dirty="0">
                <a:latin typeface="Inter"/>
              </a:rPr>
              <a:t>:</a:t>
            </a:r>
            <a:r>
              <a:rPr lang="en-US" dirty="0">
                <a:latin typeface="Inter"/>
              </a:rPr>
              <a:t> What type of model will it be? A decision tree? Some other type of model? Some other parameters of the model type are specified too.</a:t>
            </a:r>
          </a:p>
          <a:p>
            <a:r>
              <a:rPr lang="en-US" b="1" dirty="0" smtClean="0">
                <a:latin typeface="Inter"/>
              </a:rPr>
              <a:t>Fit:</a:t>
            </a:r>
            <a:r>
              <a:rPr lang="en-US" dirty="0" smtClean="0">
                <a:latin typeface="Inter"/>
              </a:rPr>
              <a:t> Capture patterns from </a:t>
            </a:r>
            <a:r>
              <a:rPr lang="en-US" dirty="0">
                <a:latin typeface="Inter"/>
              </a:rPr>
              <a:t>provided data. </a:t>
            </a:r>
            <a:r>
              <a:rPr lang="en-US" dirty="0" smtClean="0">
                <a:latin typeface="Inter"/>
              </a:rPr>
              <a:t>This is the heart </a:t>
            </a:r>
            <a:r>
              <a:rPr lang="en-US" dirty="0">
                <a:latin typeface="Inter"/>
              </a:rPr>
              <a:t>of modeling.</a:t>
            </a:r>
          </a:p>
          <a:p>
            <a:r>
              <a:rPr lang="en-US" b="1" dirty="0">
                <a:latin typeface="Inter"/>
              </a:rPr>
              <a:t>Predict:</a:t>
            </a:r>
            <a:r>
              <a:rPr lang="en-US" dirty="0">
                <a:latin typeface="Inter"/>
              </a:rPr>
              <a:t> </a:t>
            </a:r>
            <a:r>
              <a:rPr lang="en-US" dirty="0" smtClean="0">
                <a:latin typeface="Inter"/>
              </a:rPr>
              <a:t>make </a:t>
            </a:r>
            <a:r>
              <a:rPr lang="en-US" dirty="0">
                <a:latin typeface="Inter"/>
              </a:rPr>
              <a:t>multiple </a:t>
            </a:r>
            <a:r>
              <a:rPr lang="en-US" dirty="0" smtClean="0">
                <a:latin typeface="Inter"/>
              </a:rPr>
              <a:t>predication.</a:t>
            </a:r>
            <a:endParaRPr lang="en-US" dirty="0">
              <a:latin typeface="Inter"/>
            </a:endParaRPr>
          </a:p>
          <a:p>
            <a:r>
              <a:rPr lang="en-US" b="1" dirty="0">
                <a:latin typeface="Inter"/>
              </a:rPr>
              <a:t>Evaluate</a:t>
            </a:r>
            <a:r>
              <a:rPr lang="en-US" dirty="0">
                <a:latin typeface="Inter"/>
              </a:rPr>
              <a:t>: Determine how accurate the model's predictions are.</a:t>
            </a:r>
          </a:p>
          <a:p>
            <a:endParaRPr lang="en-IN" dirty="0"/>
          </a:p>
        </p:txBody>
      </p:sp>
    </p:spTree>
    <p:extLst>
      <p:ext uri="{BB962C8B-B14F-4D97-AF65-F5344CB8AC3E}">
        <p14:creationId xmlns:p14="http://schemas.microsoft.com/office/powerpoint/2010/main" val="2875615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of learning</a:t>
            </a:r>
            <a:endParaRPr lang="en-IN" dirty="0"/>
          </a:p>
        </p:txBody>
      </p:sp>
      <p:sp>
        <p:nvSpPr>
          <p:cNvPr id="3" name="Content Placeholder 2"/>
          <p:cNvSpPr>
            <a:spLocks noGrp="1"/>
          </p:cNvSpPr>
          <p:nvPr>
            <p:ph idx="1"/>
          </p:nvPr>
        </p:nvSpPr>
        <p:spPr/>
        <p:txBody>
          <a:bodyPr/>
          <a:lstStyle/>
          <a:p>
            <a:r>
              <a:rPr lang="en-US" dirty="0" smtClean="0"/>
              <a:t>Supervised :- all data are labeled, used for regression and classification prediction</a:t>
            </a:r>
          </a:p>
          <a:p>
            <a:r>
              <a:rPr lang="en-US" dirty="0" smtClean="0"/>
              <a:t>Unsupervised :- data are not labeled, used in clustering.</a:t>
            </a:r>
          </a:p>
          <a:p>
            <a:r>
              <a:rPr lang="en-US" dirty="0" smtClean="0"/>
              <a:t>Semi-</a:t>
            </a:r>
            <a:r>
              <a:rPr lang="en-US" dirty="0"/>
              <a:t> </a:t>
            </a:r>
            <a:r>
              <a:rPr lang="en-US" dirty="0" smtClean="0"/>
              <a:t>Supervised:- few data are labeled and few are unlabeled data.</a:t>
            </a:r>
          </a:p>
          <a:p>
            <a:r>
              <a:rPr lang="en-US" dirty="0" smtClean="0"/>
              <a:t>Reinforcement learning</a:t>
            </a:r>
            <a:r>
              <a:rPr lang="en-US" dirty="0"/>
              <a:t>:- Reinforcement learning (RL) is an area of machine learning concerned with how intelligent agents ought to take actions in an environment in order to maximize the notion of cumulative reward. Reinforcement learning is one of three basic machine learning paradigms, alongside supervised learning and unsupervised learning.</a:t>
            </a:r>
            <a:endParaRPr lang="en-IN" dirty="0"/>
          </a:p>
        </p:txBody>
      </p:sp>
    </p:spTree>
    <p:extLst>
      <p:ext uri="{BB962C8B-B14F-4D97-AF65-F5344CB8AC3E}">
        <p14:creationId xmlns:p14="http://schemas.microsoft.com/office/powerpoint/2010/main" val="41292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 test , validation</a:t>
            </a:r>
            <a:endParaRPr lang="en-IN" dirty="0"/>
          </a:p>
        </p:txBody>
      </p:sp>
      <p:sp>
        <p:nvSpPr>
          <p:cNvPr id="3" name="Content Placeholder 2"/>
          <p:cNvSpPr>
            <a:spLocks noGrp="1"/>
          </p:cNvSpPr>
          <p:nvPr>
            <p:ph idx="1"/>
          </p:nvPr>
        </p:nvSpPr>
        <p:spPr/>
        <p:txBody>
          <a:bodyPr/>
          <a:lstStyle/>
          <a:p>
            <a:r>
              <a:rPr lang="en-US" dirty="0" smtClean="0"/>
              <a:t>Training Dataset:- Training datasets are data that used to train our model.</a:t>
            </a:r>
          </a:p>
          <a:p>
            <a:r>
              <a:rPr lang="en-US" dirty="0" smtClean="0"/>
              <a:t>Testing Dataset</a:t>
            </a:r>
            <a:r>
              <a:rPr lang="en-US" dirty="0"/>
              <a:t>:-This dataset are data that model has never seen before </a:t>
            </a:r>
            <a:r>
              <a:rPr lang="en-US" dirty="0" smtClean="0"/>
              <a:t>Test data are testing purpose. Here we evaluate model accuracy and decide weather model is useful in real life or not.</a:t>
            </a:r>
          </a:p>
          <a:p>
            <a:r>
              <a:rPr lang="en-US" dirty="0" smtClean="0"/>
              <a:t>Validation dataset:- validation data is use for hyper parameter tuning of model.</a:t>
            </a:r>
            <a:endParaRPr lang="en-IN" dirty="0"/>
          </a:p>
        </p:txBody>
      </p:sp>
    </p:spTree>
    <p:extLst>
      <p:ext uri="{BB962C8B-B14F-4D97-AF65-F5344CB8AC3E}">
        <p14:creationId xmlns:p14="http://schemas.microsoft.com/office/powerpoint/2010/main" val="3075628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t>Training accuracy and validation accuracy</a:t>
            </a:r>
            <a:endParaRPr lang="en-IN" sz="2400" dirty="0"/>
          </a:p>
        </p:txBody>
      </p:sp>
      <p:sp>
        <p:nvSpPr>
          <p:cNvPr id="3" name="Content Placeholder 2"/>
          <p:cNvSpPr>
            <a:spLocks noGrp="1"/>
          </p:cNvSpPr>
          <p:nvPr>
            <p:ph idx="1"/>
          </p:nvPr>
        </p:nvSpPr>
        <p:spPr/>
        <p:txBody>
          <a:bodyPr/>
          <a:lstStyle/>
          <a:p>
            <a:r>
              <a:rPr lang="en-US" dirty="0" smtClean="0"/>
              <a:t>Training </a:t>
            </a:r>
            <a:r>
              <a:rPr lang="en-US" dirty="0" err="1" smtClean="0"/>
              <a:t>acc</a:t>
            </a:r>
            <a:r>
              <a:rPr lang="en-US" dirty="0" smtClean="0"/>
              <a:t>:- Training accuracy is accuracy that model acquire during training procedure.</a:t>
            </a:r>
          </a:p>
          <a:p>
            <a:r>
              <a:rPr lang="en-US" dirty="0" smtClean="0"/>
              <a:t>Test </a:t>
            </a:r>
            <a:r>
              <a:rPr lang="en-US" dirty="0" err="1" smtClean="0"/>
              <a:t>acc</a:t>
            </a:r>
            <a:r>
              <a:rPr lang="en-US" dirty="0" smtClean="0"/>
              <a:t>:- test </a:t>
            </a:r>
            <a:r>
              <a:rPr lang="en-US" dirty="0"/>
              <a:t>accuracy Is real accuracy in which we can say how our model perform in real world.</a:t>
            </a:r>
            <a:endParaRPr lang="en-IN" dirty="0"/>
          </a:p>
          <a:p>
            <a:endParaRPr lang="en-IN" dirty="0"/>
          </a:p>
        </p:txBody>
      </p:sp>
    </p:spTree>
    <p:extLst>
      <p:ext uri="{BB962C8B-B14F-4D97-AF65-F5344CB8AC3E}">
        <p14:creationId xmlns:p14="http://schemas.microsoft.com/office/powerpoint/2010/main" val="316522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Overfitting and under fitting</a:t>
            </a:r>
            <a:endParaRPr lang="en-IN" dirty="0"/>
          </a:p>
        </p:txBody>
      </p:sp>
      <p:sp>
        <p:nvSpPr>
          <p:cNvPr id="3" name="Content Placeholder 2"/>
          <p:cNvSpPr>
            <a:spLocks noGrp="1"/>
          </p:cNvSpPr>
          <p:nvPr>
            <p:ph idx="1"/>
          </p:nvPr>
        </p:nvSpPr>
        <p:spPr/>
        <p:txBody>
          <a:bodyPr/>
          <a:lstStyle/>
          <a:p>
            <a:r>
              <a:rPr lang="en-US" dirty="0" smtClean="0"/>
              <a:t>Overfitting </a:t>
            </a:r>
            <a:r>
              <a:rPr lang="en-US" dirty="0"/>
              <a:t>means our </a:t>
            </a:r>
            <a:r>
              <a:rPr lang="en-US" dirty="0" smtClean="0"/>
              <a:t>model </a:t>
            </a:r>
            <a:r>
              <a:rPr lang="en-US" dirty="0"/>
              <a:t>has focused on the particular training set so much that it has missed the point entirely. In this way, the model is not able to adapt to new data as it’s too focused on the training set</a:t>
            </a:r>
            <a:r>
              <a:rPr lang="en-US" dirty="0" smtClean="0"/>
              <a:t>. (Train </a:t>
            </a:r>
            <a:r>
              <a:rPr lang="en-US" dirty="0" err="1" smtClean="0"/>
              <a:t>acc</a:t>
            </a:r>
            <a:r>
              <a:rPr lang="en-US" dirty="0" smtClean="0"/>
              <a:t> too high and </a:t>
            </a:r>
            <a:r>
              <a:rPr lang="en-US" dirty="0" err="1" smtClean="0"/>
              <a:t>val</a:t>
            </a:r>
            <a:r>
              <a:rPr lang="en-US" dirty="0" smtClean="0"/>
              <a:t> </a:t>
            </a:r>
            <a:r>
              <a:rPr lang="en-US" dirty="0" err="1" smtClean="0"/>
              <a:t>acc</a:t>
            </a:r>
            <a:r>
              <a:rPr lang="en-US" dirty="0" smtClean="0"/>
              <a:t> low)</a:t>
            </a:r>
          </a:p>
          <a:p>
            <a:r>
              <a:rPr lang="en-US" dirty="0" smtClean="0"/>
              <a:t>Under fitting, </a:t>
            </a:r>
            <a:r>
              <a:rPr lang="en-US" dirty="0"/>
              <a:t>on the other hand, means the model has not captured the underlying logic of the data. It doesn’t know what to do with the task we’ve given it and, therefore, provides an answer that is far from correct</a:t>
            </a:r>
            <a:r>
              <a:rPr lang="en-US" dirty="0" smtClean="0"/>
              <a:t>.(Train </a:t>
            </a:r>
            <a:r>
              <a:rPr lang="en-US" dirty="0" err="1" smtClean="0"/>
              <a:t>acc</a:t>
            </a:r>
            <a:r>
              <a:rPr lang="en-US" dirty="0" smtClean="0"/>
              <a:t> too low)</a:t>
            </a:r>
            <a:endParaRPr lang="en-IN" dirty="0"/>
          </a:p>
        </p:txBody>
      </p:sp>
    </p:spTree>
    <p:extLst>
      <p:ext uri="{BB962C8B-B14F-4D97-AF65-F5344CB8AC3E}">
        <p14:creationId xmlns:p14="http://schemas.microsoft.com/office/powerpoint/2010/main" val="49402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Variance and biased</a:t>
            </a:r>
            <a:endParaRPr lang="en-IN" dirty="0"/>
          </a:p>
        </p:txBody>
      </p:sp>
      <p:sp>
        <p:nvSpPr>
          <p:cNvPr id="3" name="Content Placeholder 2"/>
          <p:cNvSpPr>
            <a:spLocks noGrp="1"/>
          </p:cNvSpPr>
          <p:nvPr>
            <p:ph idx="1"/>
          </p:nvPr>
        </p:nvSpPr>
        <p:spPr>
          <a:xfrm>
            <a:off x="1451579" y="2015732"/>
            <a:ext cx="9603275" cy="2059879"/>
          </a:xfrm>
        </p:spPr>
        <p:txBody>
          <a:bodyPr/>
          <a:lstStyle/>
          <a:p>
            <a:r>
              <a:rPr lang="en-US" dirty="0"/>
              <a:t>Bias is considered a</a:t>
            </a:r>
            <a:r>
              <a:rPr lang="en-US" b="1" dirty="0"/>
              <a:t> systematic error</a:t>
            </a:r>
            <a:r>
              <a:rPr lang="en-US" dirty="0"/>
              <a:t> that occurs in the machine learning model </a:t>
            </a:r>
            <a:r>
              <a:rPr lang="en-US" dirty="0" smtClean="0"/>
              <a:t>itself </a:t>
            </a:r>
            <a:r>
              <a:rPr lang="en-US" dirty="0"/>
              <a:t>due to incorrect assumptions in the ML </a:t>
            </a:r>
            <a:r>
              <a:rPr lang="en-US" dirty="0" smtClean="0"/>
              <a:t>process.</a:t>
            </a:r>
          </a:p>
          <a:p>
            <a:r>
              <a:rPr lang="en-US" dirty="0"/>
              <a:t>variance is the</a:t>
            </a:r>
            <a:r>
              <a:rPr lang="en-US" b="1" dirty="0"/>
              <a:t> difference between the actual samples of the dataset and the predictions made by the model</a:t>
            </a:r>
            <a:r>
              <a:rPr lang="en-US" dirty="0" smtClean="0"/>
              <a:t>. correct </a:t>
            </a:r>
            <a:r>
              <a:rPr lang="en-US" dirty="0"/>
              <a:t>assumptions in the ML process.</a:t>
            </a:r>
            <a:endParaRPr lang="en-IN" dirty="0"/>
          </a:p>
        </p:txBody>
      </p:sp>
    </p:spTree>
    <p:extLst>
      <p:ext uri="{BB962C8B-B14F-4D97-AF65-F5344CB8AC3E}">
        <p14:creationId xmlns:p14="http://schemas.microsoft.com/office/powerpoint/2010/main" val="399969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20725" t="39328" r="52586" b="21192"/>
          <a:stretch/>
        </p:blipFill>
        <p:spPr>
          <a:xfrm>
            <a:off x="3128170" y="0"/>
            <a:ext cx="7458043" cy="5630091"/>
          </a:xfrm>
        </p:spPr>
      </p:pic>
      <p:sp>
        <p:nvSpPr>
          <p:cNvPr id="2" name="TextBox 1"/>
          <p:cNvSpPr txBox="1"/>
          <p:nvPr/>
        </p:nvSpPr>
        <p:spPr>
          <a:xfrm>
            <a:off x="352697" y="365760"/>
            <a:ext cx="2168434" cy="3139321"/>
          </a:xfrm>
          <a:prstGeom prst="rect">
            <a:avLst/>
          </a:prstGeom>
          <a:noFill/>
        </p:spPr>
        <p:txBody>
          <a:bodyPr wrap="square" rtlCol="0">
            <a:spAutoFit/>
          </a:bodyPr>
          <a:lstStyle/>
          <a:p>
            <a:r>
              <a:rPr lang="en-US" dirty="0" smtClean="0">
                <a:solidFill>
                  <a:srgbClr val="0070C0"/>
                </a:solidFill>
              </a:rPr>
              <a:t>Over fit </a:t>
            </a:r>
          </a:p>
          <a:p>
            <a:r>
              <a:rPr lang="en-US" dirty="0" smtClean="0">
                <a:solidFill>
                  <a:srgbClr val="FF0000"/>
                </a:solidFill>
              </a:rPr>
              <a:t>High variance </a:t>
            </a:r>
          </a:p>
          <a:p>
            <a:r>
              <a:rPr lang="en-US" dirty="0" smtClean="0">
                <a:solidFill>
                  <a:srgbClr val="FF0000"/>
                </a:solidFill>
              </a:rPr>
              <a:t>low bias</a:t>
            </a:r>
          </a:p>
          <a:p>
            <a:endParaRPr lang="en-US" dirty="0">
              <a:solidFill>
                <a:srgbClr val="0070C0"/>
              </a:solidFill>
            </a:endParaRPr>
          </a:p>
          <a:p>
            <a:r>
              <a:rPr lang="en-US" dirty="0" smtClean="0">
                <a:solidFill>
                  <a:srgbClr val="0070C0"/>
                </a:solidFill>
              </a:rPr>
              <a:t>Under fit </a:t>
            </a:r>
          </a:p>
          <a:p>
            <a:r>
              <a:rPr lang="en-US" dirty="0" smtClean="0">
                <a:solidFill>
                  <a:srgbClr val="FF0000"/>
                </a:solidFill>
              </a:rPr>
              <a:t>High variance</a:t>
            </a:r>
          </a:p>
          <a:p>
            <a:r>
              <a:rPr lang="en-US" dirty="0" smtClean="0">
                <a:solidFill>
                  <a:srgbClr val="FF0000"/>
                </a:solidFill>
              </a:rPr>
              <a:t>high bias</a:t>
            </a:r>
          </a:p>
          <a:p>
            <a:endParaRPr lang="en-US" dirty="0">
              <a:solidFill>
                <a:srgbClr val="0070C0"/>
              </a:solidFill>
            </a:endParaRPr>
          </a:p>
          <a:p>
            <a:r>
              <a:rPr lang="en-US" dirty="0" smtClean="0">
                <a:solidFill>
                  <a:srgbClr val="0070C0"/>
                </a:solidFill>
              </a:rPr>
              <a:t>Generalize model</a:t>
            </a:r>
          </a:p>
          <a:p>
            <a:r>
              <a:rPr lang="en-US" dirty="0" smtClean="0">
                <a:solidFill>
                  <a:srgbClr val="FF0000"/>
                </a:solidFill>
              </a:rPr>
              <a:t>Low variance</a:t>
            </a:r>
          </a:p>
          <a:p>
            <a:r>
              <a:rPr lang="en-US" dirty="0" smtClean="0">
                <a:solidFill>
                  <a:srgbClr val="FF0000"/>
                </a:solidFill>
              </a:rPr>
              <a:t>Low bias</a:t>
            </a:r>
          </a:p>
        </p:txBody>
      </p:sp>
    </p:spTree>
    <p:extLst>
      <p:ext uri="{BB962C8B-B14F-4D97-AF65-F5344CB8AC3E}">
        <p14:creationId xmlns:p14="http://schemas.microsoft.com/office/powerpoint/2010/main" val="38684347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76</TotalTime>
  <Words>398</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Gill Sans MT</vt:lpstr>
      <vt:lpstr>Inter</vt:lpstr>
      <vt:lpstr>Gallery</vt:lpstr>
      <vt:lpstr>Machine learning </vt:lpstr>
      <vt:lpstr>Definition </vt:lpstr>
      <vt:lpstr>Procedure of training ML model</vt:lpstr>
      <vt:lpstr>Type of learning</vt:lpstr>
      <vt:lpstr>Training , test , validation</vt:lpstr>
      <vt:lpstr>Training accuracy and validation accuracy</vt:lpstr>
      <vt:lpstr>Overfitting and under fitting</vt:lpstr>
      <vt:lpstr>Variance and biased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dc:title>
  <dc:creator>Admin</dc:creator>
  <cp:lastModifiedBy>Admin</cp:lastModifiedBy>
  <cp:revision>9</cp:revision>
  <dcterms:created xsi:type="dcterms:W3CDTF">2022-09-29T04:57:26Z</dcterms:created>
  <dcterms:modified xsi:type="dcterms:W3CDTF">2022-11-03T09:47:56Z</dcterms:modified>
</cp:coreProperties>
</file>